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image" Target="../media/image8.png"/><Relationship Id="rId6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AI HACKATHON 2026 • LIVE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10B981"/>
                </a:solidFill>
              </a:defRPr>
            </a:pPr>
            <a:r>
              <a:t>NutriSense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>
                <a:solidFill>
                  <a:srgbClr val="F8FAFC"/>
                </a:solidFill>
              </a:defRPr>
            </a:pPr>
            <a:r>
              <a:t>AI-Powered Precision Nutrition, Clinical Safety &amp; Metabolic Health Suite for South Asia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06B6D4"/>
                </a:solidFill>
              </a:defRPr>
            </a:pPr>
            <a:r>
              <a:t>Presented by:  Jamal Matloob   |   Affan Asim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91840"/>
            <a:ext cx="2514600" cy="2926080"/>
          </a:xfrm>
          <a:prstGeom prst="roundRect">
            <a:avLst/>
          </a:prstGeom>
          <a:solidFill>
            <a:srgbClr val="162138"/>
          </a:solidFill>
          <a:ln w="15240">
            <a:solidFill>
              <a:srgbClr val="28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32688" y="3456432"/>
            <a:ext cx="475488" cy="475488"/>
          </a:xfrm>
          <a:prstGeom prst="roundRect">
            <a:avLst/>
          </a:prstGeom>
          <a:solidFill>
            <a:srgbClr val="123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amera_emera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3511296"/>
            <a:ext cx="365760" cy="365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32688" y="4023360"/>
            <a:ext cx="2112264" cy="2057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50" b="1">
                <a:solidFill>
                  <a:srgbClr val="F8FAFC"/>
                </a:solidFill>
              </a:defRPr>
            </a:pPr>
            <a:r>
              <a:t>South Asian Vision</a:t>
            </a:r>
          </a:p>
          <a:p>
            <a:pPr>
              <a:spcAft>
                <a:spcPts val="400"/>
              </a:spcAft>
              <a:defRPr sz="950" b="1">
                <a:solidFill>
                  <a:srgbClr val="10B981"/>
                </a:solidFill>
              </a:defRPr>
            </a:pPr>
            <a:r>
              <a:t>[VISION AI]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Accurately decomposes composite gravies, curries, and cooking ghee/tarka.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3291840"/>
            <a:ext cx="2514600" cy="2926080"/>
          </a:xfrm>
          <a:prstGeom prst="roundRect">
            <a:avLst/>
          </a:prstGeom>
          <a:solidFill>
            <a:srgbClr val="162138"/>
          </a:solidFill>
          <a:ln w="15240">
            <a:solidFill>
              <a:srgbClr val="28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57600" y="3456432"/>
            <a:ext cx="475488" cy="475488"/>
          </a:xfrm>
          <a:prstGeom prst="roundRect">
            <a:avLst/>
          </a:prstGeom>
          <a:solidFill>
            <a:srgbClr val="3A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hield_co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2464" y="3511296"/>
            <a:ext cx="365760" cy="3657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57600" y="4023360"/>
            <a:ext cx="2112264" cy="2057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50" b="1">
                <a:solidFill>
                  <a:srgbClr val="F8FAFC"/>
                </a:solidFill>
              </a:defRPr>
            </a:pPr>
            <a:r>
              <a:t>3-Step Clinical RAG</a:t>
            </a:r>
          </a:p>
          <a:p>
            <a:pPr>
              <a:spcAft>
                <a:spcPts val="400"/>
              </a:spcAft>
              <a:defRPr sz="950" b="1">
                <a:solidFill>
                  <a:srgbClr val="EF4444"/>
                </a:solidFill>
              </a:defRPr>
            </a:pPr>
            <a:r>
              <a:t>[SAFETY GUARD]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Independent risk evaluator and sub-50ms hypoglycemia interceptor.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3291840"/>
            <a:ext cx="2514600" cy="2926080"/>
          </a:xfrm>
          <a:prstGeom prst="roundRect">
            <a:avLst/>
          </a:prstGeom>
          <a:solidFill>
            <a:srgbClr val="162138"/>
          </a:solidFill>
          <a:ln w="15240">
            <a:solidFill>
              <a:srgbClr val="28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82512" y="3456432"/>
            <a:ext cx="475488" cy="475488"/>
          </a:xfrm>
          <a:prstGeom prst="roundRect">
            <a:avLst/>
          </a:prstGeom>
          <a:solidFill>
            <a:srgbClr val="1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moon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376" y="3511296"/>
            <a:ext cx="365760" cy="3657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82512" y="4023360"/>
            <a:ext cx="2112264" cy="2057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50" b="1">
                <a:solidFill>
                  <a:srgbClr val="F8FAFC"/>
                </a:solidFill>
              </a:defRPr>
            </a:pPr>
            <a:r>
              <a:t>Ramadan Fasting</a:t>
            </a:r>
          </a:p>
          <a:p>
            <a:pPr>
              <a:spcAft>
                <a:spcPts val="400"/>
              </a:spcAft>
              <a:defRPr sz="950" b="1">
                <a:solidFill>
                  <a:srgbClr val="06B6D4"/>
                </a:solidFill>
              </a:defRPr>
            </a:pPr>
            <a:r>
              <a:t>[CULTURE]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Dynamic Sehri/Iftar meal slots, dual countdown clocks &amp; hydration pacing.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06256" y="3291840"/>
            <a:ext cx="2514600" cy="2926080"/>
          </a:xfrm>
          <a:prstGeom prst="roundRect">
            <a:avLst/>
          </a:prstGeom>
          <a:solidFill>
            <a:srgbClr val="162138"/>
          </a:solidFill>
          <a:ln w="15240">
            <a:solidFill>
              <a:srgbClr val="28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07424" y="3456432"/>
            <a:ext cx="475488" cy="475488"/>
          </a:xfrm>
          <a:prstGeom prst="roundRect">
            <a:avLst/>
          </a:prstGeom>
          <a:solidFill>
            <a:srgbClr val="382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users_amb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2288" y="3511296"/>
            <a:ext cx="365760" cy="3657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107424" y="4023360"/>
            <a:ext cx="2112264" cy="2057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50" b="1">
                <a:solidFill>
                  <a:srgbClr val="F8FAFC"/>
                </a:solidFill>
              </a:defRPr>
            </a:pPr>
            <a:r>
              <a:t>Family &amp; Urdu Voice</a:t>
            </a:r>
          </a:p>
          <a:p>
            <a:pPr>
              <a:spcAft>
                <a:spcPts val="400"/>
              </a:spcAft>
              <a:defRPr sz="950" b="1">
                <a:solidFill>
                  <a:srgbClr val="F59E0B"/>
                </a:solidFill>
              </a:defRPr>
            </a:pPr>
            <a:r>
              <a:t>[INCLUSIVITY]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1-tap dependent switcher with authentic Nastaleeq &amp; Neural Urdu Voice TTS.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South Asian Chronic Health &amp; Nutrition Gap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212080" cy="2286000"/>
          </a:xfrm>
          <a:prstGeom prst="roundRect">
            <a:avLst/>
          </a:prstGeom>
          <a:solidFill>
            <a:srgbClr val="162138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2688" y="1764792"/>
            <a:ext cx="438912" cy="438912"/>
          </a:xfrm>
          <a:prstGeom prst="roundRect">
            <a:avLst/>
          </a:prstGeom>
          <a:solidFill>
            <a:srgbClr val="3A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ulse_co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1819656"/>
            <a:ext cx="329184" cy="3291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63040" y="1764792"/>
            <a:ext cx="4297680" cy="1984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50" b="1">
                <a:solidFill>
                  <a:srgbClr val="F8FAFC"/>
                </a:solidFill>
              </a:defRPr>
            </a:pPr>
            <a:r>
              <a:t>Severe Metabolic Burden</a:t>
            </a:r>
          </a:p>
          <a:p>
            <a:pPr>
              <a:spcAft>
                <a:spcPts val="400"/>
              </a:spcAft>
              <a:defRPr sz="950" b="1">
                <a:solidFill>
                  <a:srgbClr val="EF4444"/>
                </a:solidFill>
              </a:defRPr>
            </a:pPr>
            <a:r>
              <a:t>[CHRONIC CRISIS]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South Asians face disproportionately high rates of Type-2 Diabetes, Hypertension, and early CVD, often diagnosed a full decade earlier than Western benchmarks.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00200"/>
            <a:ext cx="5212080" cy="2286000"/>
          </a:xfrm>
          <a:prstGeom prst="roundRect">
            <a:avLst/>
          </a:prstGeom>
          <a:solidFill>
            <a:srgbClr val="162138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19088" y="1764792"/>
            <a:ext cx="438912" cy="438912"/>
          </a:xfrm>
          <a:prstGeom prst="roundRect">
            <a:avLst/>
          </a:prstGeom>
          <a:solidFill>
            <a:srgbClr val="382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ood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1819656"/>
            <a:ext cx="329184" cy="3291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949440" y="1764792"/>
            <a:ext cx="4297680" cy="1984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50" b="1">
                <a:solidFill>
                  <a:srgbClr val="F8FAFC"/>
                </a:solidFill>
              </a:defRPr>
            </a:pPr>
            <a:r>
              <a:t>Composite Cooking Blindspot</a:t>
            </a:r>
          </a:p>
          <a:p>
            <a:pPr>
              <a:spcAft>
                <a:spcPts val="400"/>
              </a:spcAft>
              <a:defRPr sz="950" b="1">
                <a:solidFill>
                  <a:srgbClr val="F59E0B"/>
                </a:solidFill>
              </a:defRPr>
            </a:pPr>
            <a:r>
              <a:t>[DIET MISMATCH]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Western apps assume isolated foods (grilled chicken + rice). Traditional dishes (Biryani, Nihari, Haleem, Daal Tarka) contain hidden oils and sauces that Western databases cannot parse.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5212080" cy="2286000"/>
          </a:xfrm>
          <a:prstGeom prst="roundRect">
            <a:avLst/>
          </a:prstGeom>
          <a:solidFill>
            <a:srgbClr val="162138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32688" y="4279392"/>
            <a:ext cx="438912" cy="438912"/>
          </a:xfrm>
          <a:prstGeom prst="roundRect">
            <a:avLst/>
          </a:prstGeom>
          <a:solidFill>
            <a:srgbClr val="3A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warning_cor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334256"/>
            <a:ext cx="329184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463040" y="4279392"/>
            <a:ext cx="4297680" cy="1984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50" b="1">
                <a:solidFill>
                  <a:srgbClr val="F8FAFC"/>
                </a:solidFill>
              </a:defRPr>
            </a:pPr>
            <a:r>
              <a:t>Hazardous Generic AI Advice</a:t>
            </a:r>
          </a:p>
          <a:p>
            <a:pPr>
              <a:spcAft>
                <a:spcPts val="400"/>
              </a:spcAft>
              <a:defRPr sz="950" b="1">
                <a:solidFill>
                  <a:srgbClr val="EF4444"/>
                </a:solidFill>
              </a:defRPr>
            </a:pPr>
            <a:r>
              <a:t>[SAFETY HAZARD]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Unconstrained ChatGPT bots lack medical guardrails—prescribing heavy Valsalva maneuvers to hypertensive patients or failing during acute low blood sugar crises.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114800"/>
            <a:ext cx="5212080" cy="2286000"/>
          </a:xfrm>
          <a:prstGeom prst="roundRect">
            <a:avLst/>
          </a:prstGeom>
          <a:solidFill>
            <a:srgbClr val="162138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19088" y="4279392"/>
            <a:ext cx="438912" cy="438912"/>
          </a:xfrm>
          <a:prstGeom prst="roundRect">
            <a:avLst/>
          </a:prstGeom>
          <a:solidFill>
            <a:srgbClr val="1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phone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952" y="4334256"/>
            <a:ext cx="329184" cy="32918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949440" y="4279392"/>
            <a:ext cx="4297680" cy="1984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50" b="1">
                <a:solidFill>
                  <a:srgbClr val="F8FAFC"/>
                </a:solidFill>
              </a:defRPr>
            </a:pPr>
            <a:r>
              <a:t>Single-Device Family Reality</a:t>
            </a:r>
          </a:p>
          <a:p>
            <a:pPr>
              <a:spcAft>
                <a:spcPts val="400"/>
              </a:spcAft>
              <a:defRPr sz="950" b="1">
                <a:solidFill>
                  <a:srgbClr val="06B6D4"/>
                </a:solidFill>
              </a:defRPr>
            </a:pPr>
            <a:r>
              <a:t>[DEMOGRAPHIC GAP]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In South Asian households, one smartphone is often shared to track health for elderly diabetic parents, growing children, and spouses. Single-user apps fail this dynamic.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NutriSense: Precision Health Built for Reality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3383280" cy="4663440"/>
          </a:xfrm>
          <a:prstGeom prst="roundRect">
            <a:avLst/>
          </a:prstGeom>
          <a:solidFill>
            <a:srgbClr val="162138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2688" y="1764792"/>
            <a:ext cx="475488" cy="475488"/>
          </a:xfrm>
          <a:prstGeom prst="roundRect">
            <a:avLst/>
          </a:prstGeom>
          <a:solidFill>
            <a:srgbClr val="123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amera_emera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1819656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32688" y="2331720"/>
            <a:ext cx="2980944" cy="37947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50" b="1">
                <a:solidFill>
                  <a:srgbClr val="F8FAFC"/>
                </a:solidFill>
              </a:defRPr>
            </a:pPr>
            <a:r>
              <a:t>Cultural Multimodal Vision</a:t>
            </a:r>
          </a:p>
          <a:p>
            <a:pPr>
              <a:spcAft>
                <a:spcPts val="400"/>
              </a:spcAft>
              <a:defRPr sz="950" b="1">
                <a:solidFill>
                  <a:srgbClr val="10B981"/>
                </a:solidFill>
              </a:defRPr>
            </a:pPr>
            <a:r>
              <a:t>[PLATE + BARCODE SCANNER]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Powered by Google Gemini Vision calibrated for South Asian portion units (Katoris, Rotis, Tolas) and composite cooking fats.</a:t>
            </a:r>
            <a:br/>
            <a:br/>
            <a:r>
              <a:t>• Deconstructs mixed curries &amp; gravies</a:t>
            </a:r>
            <a:br/>
            <a:r>
              <a:t>• Instant 1-tap live portion modifiers</a:t>
            </a:r>
            <a:br/>
            <a:r>
              <a:t>• Barcode scanning via OpenFoodFacts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00200"/>
            <a:ext cx="3383280" cy="4663440"/>
          </a:xfrm>
          <a:prstGeom prst="roundRect">
            <a:avLst/>
          </a:prstGeom>
          <a:solidFill>
            <a:srgbClr val="162138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90288" y="1764792"/>
            <a:ext cx="475488" cy="475488"/>
          </a:xfrm>
          <a:prstGeom prst="roundRect">
            <a:avLst/>
          </a:prstGeom>
          <a:solidFill>
            <a:srgbClr val="3A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tethoscope_co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152" y="1819656"/>
            <a:ext cx="365760" cy="365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90288" y="2331720"/>
            <a:ext cx="2980944" cy="37947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50" b="1">
                <a:solidFill>
                  <a:srgbClr val="F8FAFC"/>
                </a:solidFill>
              </a:defRPr>
            </a:pPr>
            <a:r>
              <a:t>3-Step Clinical RAG Guard</a:t>
            </a:r>
          </a:p>
          <a:p>
            <a:pPr>
              <a:spcAft>
                <a:spcPts val="400"/>
              </a:spcAft>
              <a:defRPr sz="950" b="1">
                <a:solidFill>
                  <a:srgbClr val="EF4444"/>
                </a:solidFill>
              </a:defRPr>
            </a:pPr>
            <a:r>
              <a:t>[SUB-SECOND SAFETY CHECK]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Strict clinical safety pipeline that intercepts medical risks before advice reaches the user.</a:t>
            </a:r>
            <a:br/>
            <a:br/>
            <a:r>
              <a:t>• Profile + 7-Day History RAG</a:t>
            </a:r>
            <a:br/>
            <a:r>
              <a:t>• Independent Clinical Risk Evaluator</a:t>
            </a:r>
            <a:br/>
            <a:r>
              <a:t>• Sub-50ms Hypoglycemia Interceptor (&lt;70 mg/dL)</a:t>
            </a:r>
            <a:br/>
            <a:r>
              <a:t>• Emergency GPS Care Locator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00200"/>
            <a:ext cx="3383280" cy="4663440"/>
          </a:xfrm>
          <a:prstGeom prst="roundRect">
            <a:avLst/>
          </a:prstGeom>
          <a:solidFill>
            <a:srgbClr val="162138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47888" y="1764792"/>
            <a:ext cx="475488" cy="475488"/>
          </a:xfrm>
          <a:prstGeom prst="roundRect">
            <a:avLst/>
          </a:prstGeom>
          <a:solidFill>
            <a:srgbClr val="1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users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1819656"/>
            <a:ext cx="365760" cy="3657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47888" y="2331720"/>
            <a:ext cx="2980944" cy="37947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50" b="1">
                <a:solidFill>
                  <a:srgbClr val="F8FAFC"/>
                </a:solidFill>
              </a:defRPr>
            </a:pPr>
            <a:r>
              <a:t>Family &amp; Regional Inclusion</a:t>
            </a:r>
          </a:p>
          <a:p>
            <a:pPr>
              <a:spcAft>
                <a:spcPts val="400"/>
              </a:spcAft>
              <a:defRPr sz="950" b="1">
                <a:solidFill>
                  <a:srgbClr val="06B6D4"/>
                </a:solidFill>
              </a:defRPr>
            </a:pPr>
            <a:r>
              <a:t>[URDU VOICE &amp; OFFLINE SYNC]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Designed for local demographic accessibility and offline durability.</a:t>
            </a:r>
            <a:br/>
            <a:br/>
            <a:r>
              <a:t>• 1-tap multi-dependent profile switcher</a:t>
            </a:r>
            <a:br/>
            <a:r>
              <a:t>• Full Jameel Noori Nastaleeq typography</a:t>
            </a:r>
            <a:br/>
            <a:r>
              <a:t>• Neural Urdu Voice Audio Coach</a:t>
            </a:r>
            <a:br/>
            <a:r>
              <a:t>• Offline SQLite sync with UUID v4 idempotency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FEATURE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Multimodal Plate Scanning &amp; Dynamic Portions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212080" cy="2286000"/>
          </a:xfrm>
          <a:prstGeom prst="roundRect">
            <a:avLst/>
          </a:prstGeom>
          <a:solidFill>
            <a:srgbClr val="162138"/>
          </a:solidFill>
          <a:ln w="15240">
            <a:solidFill>
              <a:srgbClr val="28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2688" y="1764792"/>
            <a:ext cx="438912" cy="438912"/>
          </a:xfrm>
          <a:prstGeom prst="roundRect">
            <a:avLst/>
          </a:prstGeom>
          <a:solidFill>
            <a:srgbClr val="382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ood_amb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1819656"/>
            <a:ext cx="329184" cy="3291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63040" y="1764792"/>
            <a:ext cx="4297680" cy="1984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50" b="1">
                <a:solidFill>
                  <a:srgbClr val="F8FAFC"/>
                </a:solidFill>
              </a:defRPr>
            </a:pPr>
            <a:r>
              <a:t>Composite Food Decomposition</a:t>
            </a:r>
          </a:p>
          <a:p>
            <a:pPr>
              <a:spcAft>
                <a:spcPts val="400"/>
              </a:spcAft>
              <a:defRPr sz="950" b="1">
                <a:solidFill>
                  <a:srgbClr val="10B981"/>
                </a:solidFill>
              </a:defRPr>
            </a:pPr>
            <a:r>
              <a:t>[GEMINI 2.5/3.7 VISION]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Calibrated for South Asian culinary preparation. Deconstructs multi-ingredient meals (Haleem, Karahi, Pulao, Nihari) into protein, carb, fiber, and cooking fat metrics.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00200"/>
            <a:ext cx="5212080" cy="2286000"/>
          </a:xfrm>
          <a:prstGeom prst="roundRect">
            <a:avLst/>
          </a:prstGeom>
          <a:solidFill>
            <a:srgbClr val="162138"/>
          </a:solidFill>
          <a:ln w="15240">
            <a:solidFill>
              <a:srgbClr val="28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19088" y="1764792"/>
            <a:ext cx="438912" cy="438912"/>
          </a:xfrm>
          <a:prstGeom prst="roundRect">
            <a:avLst/>
          </a:prstGeom>
          <a:solidFill>
            <a:srgbClr val="1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liders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1819656"/>
            <a:ext cx="329184" cy="3291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949440" y="1764792"/>
            <a:ext cx="4297680" cy="1984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50" b="1">
                <a:solidFill>
                  <a:srgbClr val="F8FAFC"/>
                </a:solidFill>
              </a:defRPr>
            </a:pPr>
            <a:r>
              <a:t>Live 1-Tap Portion Modifiers</a:t>
            </a:r>
          </a:p>
          <a:p>
            <a:pPr>
              <a:spcAft>
                <a:spcPts val="400"/>
              </a:spcAft>
              <a:defRPr sz="950" b="1">
                <a:solidFill>
                  <a:srgbClr val="06B6D4"/>
                </a:solidFill>
              </a:defRPr>
            </a:pPr>
            <a:r>
              <a:t>[ZERO FRICTION UI]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Non-blocking UI allows users to instantly tune quantities (e.g. 1/2 Katori, 1.5 Roti) with immediate macro, fiber, and calorie recalculations with zero friction.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5212080" cy="2286000"/>
          </a:xfrm>
          <a:prstGeom prst="roundRect">
            <a:avLst/>
          </a:prstGeom>
          <a:solidFill>
            <a:srgbClr val="162138"/>
          </a:solidFill>
          <a:ln w="15240">
            <a:solidFill>
              <a:srgbClr val="28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32688" y="4279392"/>
            <a:ext cx="438912" cy="438912"/>
          </a:xfrm>
          <a:prstGeom prst="roundRect">
            <a:avLst/>
          </a:prstGeom>
          <a:solidFill>
            <a:srgbClr val="382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barcode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334256"/>
            <a:ext cx="329184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463040" y="4279392"/>
            <a:ext cx="4297680" cy="1984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50" b="1">
                <a:solidFill>
                  <a:srgbClr val="F8FAFC"/>
                </a:solidFill>
              </a:defRPr>
            </a:pPr>
            <a:r>
              <a:t>Barcode &amp; Medical Allergen Check</a:t>
            </a:r>
          </a:p>
          <a:p>
            <a:pPr>
              <a:spcAft>
                <a:spcPts val="400"/>
              </a:spcAft>
              <a:defRPr sz="950" b="1">
                <a:solidFill>
                  <a:srgbClr val="F59E0B"/>
                </a:solidFill>
              </a:defRPr>
            </a:pPr>
            <a:r>
              <a:t>[ALLERGEN &amp; SODIUM FLAGS]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Mobile barcode scanning via OpenFoodFacts cross-references sodium, sugar, and allergens against the user's chronic health conditions (diabetic/hypertensive warnings).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114800"/>
            <a:ext cx="5212080" cy="2286000"/>
          </a:xfrm>
          <a:prstGeom prst="roundRect">
            <a:avLst/>
          </a:prstGeom>
          <a:solidFill>
            <a:srgbClr val="162138"/>
          </a:solidFill>
          <a:ln w="15240">
            <a:solidFill>
              <a:srgbClr val="28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19088" y="4279392"/>
            <a:ext cx="438912" cy="438912"/>
          </a:xfrm>
          <a:prstGeom prst="roundRect">
            <a:avLst/>
          </a:prstGeom>
          <a:solidFill>
            <a:srgbClr val="123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at_emera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952" y="4334256"/>
            <a:ext cx="329184" cy="32918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949440" y="4279392"/>
            <a:ext cx="4297680" cy="1984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50" b="1">
                <a:solidFill>
                  <a:srgbClr val="F8FAFC"/>
                </a:solidFill>
              </a:defRPr>
            </a:pPr>
            <a:r>
              <a:t>Natural Language Meal Logger</a:t>
            </a:r>
          </a:p>
          <a:p>
            <a:pPr>
              <a:spcAft>
                <a:spcPts val="400"/>
              </a:spcAft>
              <a:defRPr sz="950" b="1">
                <a:solidFill>
                  <a:srgbClr val="10B981"/>
                </a:solidFill>
              </a:defRPr>
            </a:pPr>
            <a:r>
              <a:t>[SANITIZED NLP PIPELINE]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Allows conversational text or voice logging for complex custom meals with strict input timeouts and prompt injection sanitization.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CLINICAL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3-Step Clinical RAG &amp; Hypoglycemia Interceptor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698480" cy="1280160"/>
          </a:xfrm>
          <a:prstGeom prst="roundRect">
            <a:avLst/>
          </a:prstGeom>
          <a:solidFill>
            <a:srgbClr val="162138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0B981"/>
                </a:solidFill>
              </a:defRPr>
            </a:pPr>
            <a:r>
              <a:t>[Step 1: Patient History RAG]  ➔  [Step 2: Contextual AI Coach]  ➔  [Step 3: Independent Risk Evaluator]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Retrieves 7-day logs &amp; medical profile  ➔  Generates personalized guidance  ➔  Validates medical safety &amp; attaches warnings.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5212080" cy="3108960"/>
          </a:xfrm>
          <a:prstGeom prst="roundRect">
            <a:avLst/>
          </a:prstGeom>
          <a:solidFill>
            <a:srgbClr val="162138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32688" y="3273552"/>
            <a:ext cx="438912" cy="438912"/>
          </a:xfrm>
          <a:prstGeom prst="roundRect">
            <a:avLst/>
          </a:prstGeom>
          <a:solidFill>
            <a:srgbClr val="3A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zap_co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3328415"/>
            <a:ext cx="329184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63040" y="3273552"/>
            <a:ext cx="4297680" cy="28072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50" b="1">
                <a:solidFill>
                  <a:srgbClr val="F8FAFC"/>
                </a:solidFill>
              </a:defRPr>
            </a:pPr>
            <a:r>
              <a:t>Sub-50ms Hypoglycemia Interceptor</a:t>
            </a:r>
          </a:p>
          <a:p>
            <a:pPr>
              <a:spcAft>
                <a:spcPts val="400"/>
              </a:spcAft>
              <a:defRPr sz="950" b="1">
                <a:solidFill>
                  <a:srgbClr val="EF4444"/>
                </a:solidFill>
              </a:defRPr>
            </a:pPr>
            <a:r>
              <a:t>[EMERGENCY PROTOCOL]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Deterministic regex &amp; heuristic scanner immediately detects critical low blood sugar (&lt;70 mg/dL) or acute distress, halts chat, and displays emergency fast-acting carb protocols.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108960"/>
            <a:ext cx="5212080" cy="3108960"/>
          </a:xfrm>
          <a:prstGeom prst="roundRect">
            <a:avLst/>
          </a:prstGeom>
          <a:solidFill>
            <a:srgbClr val="162138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19088" y="3273552"/>
            <a:ext cx="438912" cy="438912"/>
          </a:xfrm>
          <a:prstGeom prst="roundRect">
            <a:avLst/>
          </a:prstGeom>
          <a:solidFill>
            <a:srgbClr val="123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mappin_emera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3328415"/>
            <a:ext cx="329184" cy="3291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949440" y="3273552"/>
            <a:ext cx="4297680" cy="28072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50" b="1">
                <a:solidFill>
                  <a:srgbClr val="F8FAFC"/>
                </a:solidFill>
              </a:defRPr>
            </a:pPr>
            <a:r>
              <a:t>Integrated Emergency Care Locator</a:t>
            </a:r>
          </a:p>
          <a:p>
            <a:pPr>
              <a:spcAft>
                <a:spcPts val="400"/>
              </a:spcAft>
              <a:defRPr sz="950" b="1">
                <a:solidFill>
                  <a:srgbClr val="10B981"/>
                </a:solidFill>
              </a:defRPr>
            </a:pPr>
            <a:r>
              <a:t>[GPS CARE LOCATOR]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GPS-based nearest hospital finder with automatic offline fallback to Google Maps deep-links for immediate hospital routing during medical emergencies.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SPECIALIZED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Ramadan Fasting Suite &amp; Clinical Workouts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212080" cy="4663440"/>
          </a:xfrm>
          <a:prstGeom prst="roundRect">
            <a:avLst/>
          </a:prstGeom>
          <a:solidFill>
            <a:srgbClr val="162138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2688" y="1764792"/>
            <a:ext cx="438912" cy="438912"/>
          </a:xfrm>
          <a:prstGeom prst="roundRect">
            <a:avLst/>
          </a:prstGeom>
          <a:solidFill>
            <a:srgbClr val="1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oon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1819656"/>
            <a:ext cx="329184" cy="3291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63040" y="1764792"/>
            <a:ext cx="4297680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50" b="1">
                <a:solidFill>
                  <a:srgbClr val="F8FAFC"/>
                </a:solidFill>
              </a:defRPr>
            </a:pPr>
            <a:r>
              <a:t>Ramadan Fasting Engine</a:t>
            </a:r>
          </a:p>
          <a:p>
            <a:pPr>
              <a:spcAft>
                <a:spcPts val="400"/>
              </a:spcAft>
              <a:defRPr sz="950" b="1">
                <a:solidFill>
                  <a:srgbClr val="06B6D4"/>
                </a:solidFill>
              </a:defRPr>
            </a:pPr>
            <a:r>
              <a:t>[RAMADAN SUITE]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Dynamic Meal Remapping: Automatically reconfigures meal slots to Sehri, Iftar, Post-Iftar Dinner, and Taraweeh Snack.</a:t>
            </a:r>
            <a:br/>
            <a:br/>
            <a:r>
              <a:t>• Dual Live Clocks: Real-time Sehri &amp; Iftar countdown clocks for Asia/Karachi timezone.</a:t>
            </a:r>
            <a:br/>
            <a:br/>
            <a:r>
              <a:t>• Split Night Hydration: Paces daily fluid intake across non-fasting night windows.</a:t>
            </a:r>
            <a:br/>
            <a:br/>
            <a:r>
              <a:t>• Fasting Health Rules: Pre-Sehri alarm reminders and suppressed daytime meal notifications.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00200"/>
            <a:ext cx="5212080" cy="4663440"/>
          </a:xfrm>
          <a:prstGeom prst="roundRect">
            <a:avLst/>
          </a:prstGeom>
          <a:solidFill>
            <a:srgbClr val="162138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19088" y="1764792"/>
            <a:ext cx="438912" cy="438912"/>
          </a:xfrm>
          <a:prstGeom prst="roundRect">
            <a:avLst/>
          </a:prstGeom>
          <a:solidFill>
            <a:srgbClr val="123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umbbell_emera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1819656"/>
            <a:ext cx="329184" cy="3291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949440" y="1764792"/>
            <a:ext cx="4297680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50" b="1">
                <a:solidFill>
                  <a:srgbClr val="F8FAFC"/>
                </a:solidFill>
              </a:defRPr>
            </a:pPr>
            <a:r>
              <a:t>Personalized Condition-Aware Workouts</a:t>
            </a:r>
          </a:p>
          <a:p>
            <a:pPr>
              <a:spcAft>
                <a:spcPts val="400"/>
              </a:spcAft>
              <a:defRPr sz="950" b="1">
                <a:solidFill>
                  <a:srgbClr val="10B981"/>
                </a:solidFill>
              </a:defRPr>
            </a:pPr>
            <a:r>
              <a:t>[CLINICAL EXERCISE]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Diabetic / High Glucose: Focuses on post-prandial glucose-blunting cardio and insulin-sensitizing resistance routines.</a:t>
            </a:r>
            <a:br/>
            <a:br/>
            <a:r>
              <a:t>• Hypertension / High BP: Strictly excludes heavy Valsalva breath-holding lifts; enforces steady Zone-2 aerobic training.</a:t>
            </a:r>
            <a:br/>
            <a:br/>
            <a:r>
              <a:t>• Joint Pain / Arthritis: Replaces high-impact movements with zero-impact isometric, water-friendly, and chair routines.</a:t>
            </a:r>
            <a:br/>
            <a:br/>
            <a:r>
              <a:t>• Offline Fallback: Deterministic routines if network is unavailable.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ACCESSIBILITY &amp; DEMOGRAPHICS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Family Profiles &amp; Urdu Voice Inclusion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212080" cy="3017520"/>
          </a:xfrm>
          <a:prstGeom prst="roundRect">
            <a:avLst/>
          </a:prstGeom>
          <a:solidFill>
            <a:srgbClr val="162138"/>
          </a:solidFill>
          <a:ln w="15240">
            <a:solidFill>
              <a:srgbClr val="28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2688" y="1764792"/>
            <a:ext cx="438912" cy="438912"/>
          </a:xfrm>
          <a:prstGeom prst="roundRect">
            <a:avLst/>
          </a:prstGeom>
          <a:solidFill>
            <a:srgbClr val="123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users_emera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1819656"/>
            <a:ext cx="329184" cy="3291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63040" y="1764792"/>
            <a:ext cx="4297680" cy="2715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50" b="1">
                <a:solidFill>
                  <a:srgbClr val="F8FAFC"/>
                </a:solidFill>
              </a:defRPr>
            </a:pPr>
            <a:r>
              <a:t>1-Tap Dependent Switcher (خاندانی پروفائلز)</a:t>
            </a:r>
          </a:p>
          <a:p>
            <a:pPr>
              <a:spcAft>
                <a:spcPts val="400"/>
              </a:spcAft>
              <a:defRPr sz="950" b="1">
                <a:solidFill>
                  <a:srgbClr val="10B981"/>
                </a:solidFill>
              </a:defRPr>
            </a:pPr>
            <a:r>
              <a:t>[[Me] [Ayesha] [Abu]]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Manage nutrition for elderly diabetic parents, growing children, and spouses on a single phone.</a:t>
            </a:r>
            <a:br/>
            <a:br/>
            <a:r>
              <a:t>Intelligent Macro Calculator automatically customizes calorie targets per dependent (e.g. low-glycemic for seniors vs. growth calories for children).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00200"/>
            <a:ext cx="5212080" cy="3017520"/>
          </a:xfrm>
          <a:prstGeom prst="roundRect">
            <a:avLst/>
          </a:prstGeom>
          <a:solidFill>
            <a:srgbClr val="162138"/>
          </a:solidFill>
          <a:ln w="15240">
            <a:solidFill>
              <a:srgbClr val="28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19088" y="1764792"/>
            <a:ext cx="438912" cy="438912"/>
          </a:xfrm>
          <a:prstGeom prst="roundRect">
            <a:avLst/>
          </a:prstGeom>
          <a:solidFill>
            <a:srgbClr val="1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ic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1819656"/>
            <a:ext cx="329184" cy="3291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949440" y="1764792"/>
            <a:ext cx="4297680" cy="2715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50" b="1">
                <a:solidFill>
                  <a:srgbClr val="F8FAFC"/>
                </a:solidFill>
              </a:defRPr>
            </a:pPr>
            <a:r>
              <a:t>Neural Urdu Voice &amp; Nastaleeq</a:t>
            </a:r>
          </a:p>
          <a:p>
            <a:pPr>
              <a:spcAft>
                <a:spcPts val="400"/>
              </a:spcAft>
              <a:defRPr sz="950" b="1">
                <a:solidFill>
                  <a:srgbClr val="06B6D4"/>
                </a:solidFill>
              </a:defRPr>
            </a:pPr>
            <a:r>
              <a:t>[URDU VOICE TTS]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Full localization in authentic Jameel Noori Nastaleeq script.</a:t>
            </a:r>
            <a:br/>
            <a:br/>
            <a:r>
              <a:t>Urdu Audio Coach plays natural spoken Urdu voice advice for illiterate or senior family members who cannot read English or screen text.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846320"/>
            <a:ext cx="10698480" cy="1463040"/>
          </a:xfrm>
          <a:prstGeom prst="roundRect">
            <a:avLst/>
          </a:prstGeom>
          <a:solidFill>
            <a:srgbClr val="162138"/>
          </a:solidFill>
          <a:ln w="15240">
            <a:solidFill>
              <a:srgbClr val="28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32688" y="5010912"/>
            <a:ext cx="438912" cy="438912"/>
          </a:xfrm>
          <a:prstGeom prst="roundRect">
            <a:avLst/>
          </a:prstGeom>
          <a:solidFill>
            <a:srgbClr val="382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atabase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5065776"/>
            <a:ext cx="329184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463040" y="5010912"/>
            <a:ext cx="9784080" cy="1161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50" b="1">
                <a:solidFill>
                  <a:srgbClr val="F8FAFC"/>
                </a:solidFill>
              </a:defRPr>
            </a:pPr>
            <a:r>
              <a:t>Offline-First SQLite Sync with UUID v4 Idempotency</a:t>
            </a:r>
          </a:p>
          <a:p>
            <a:pPr>
              <a:spcAft>
                <a:spcPts val="400"/>
              </a:spcAft>
              <a:defRPr sz="950" b="1">
                <a:solidFill>
                  <a:srgbClr val="F59E0B"/>
                </a:solidFill>
              </a:defRPr>
            </a:pPr>
            <a:r>
              <a:t>[OFFLINE RELIABILITY]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Local SQLite database ensures meal and water logging work seamlessly in low-connectivity areas with zero data duplication when reconnecting to the cloud.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ENGINEERING RIGOR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Technical Architecture &amp; Multi-Model Resilience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3383280" cy="2468880"/>
          </a:xfrm>
          <a:prstGeom prst="roundRect">
            <a:avLst/>
          </a:prstGeom>
          <a:solidFill>
            <a:srgbClr val="162138"/>
          </a:solidFill>
          <a:ln w="15240">
            <a:solidFill>
              <a:srgbClr val="28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2688" y="1764792"/>
            <a:ext cx="438912" cy="438912"/>
          </a:xfrm>
          <a:prstGeom prst="roundRect">
            <a:avLst/>
          </a:prstGeom>
          <a:solidFill>
            <a:srgbClr val="123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erver_emera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1819656"/>
            <a:ext cx="329184" cy="3291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63040" y="1764792"/>
            <a:ext cx="2468880" cy="2167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50" b="1">
                <a:solidFill>
                  <a:srgbClr val="F8FAFC"/>
                </a:solidFill>
              </a:defRPr>
            </a:pPr>
            <a:r>
              <a:t>FastAPI Backend</a:t>
            </a:r>
          </a:p>
          <a:p>
            <a:pPr>
              <a:spcAft>
                <a:spcPts val="400"/>
              </a:spcAft>
              <a:defRPr sz="950" b="1">
                <a:solidFill>
                  <a:srgbClr val="10B981"/>
                </a:solidFill>
              </a:defRPr>
            </a:pPr>
            <a:r>
              <a:t>[FASTAPI + PYTHON 3.11]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Asynchronous Python backend with JWT LRU caching, Pydantic schemas, and structured clinical endpoints.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00200"/>
            <a:ext cx="3383280" cy="2468880"/>
          </a:xfrm>
          <a:prstGeom prst="roundRect">
            <a:avLst/>
          </a:prstGeom>
          <a:solidFill>
            <a:srgbClr val="162138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90288" y="1764792"/>
            <a:ext cx="438912" cy="438912"/>
          </a:xfrm>
          <a:prstGeom prst="roundRect">
            <a:avLst/>
          </a:prstGeom>
          <a:solidFill>
            <a:srgbClr val="1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pu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152" y="1819656"/>
            <a:ext cx="329184" cy="3291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120640" y="1764792"/>
            <a:ext cx="2468880" cy="2167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50" b="1">
                <a:solidFill>
                  <a:srgbClr val="F8FAFC"/>
                </a:solidFill>
              </a:defRPr>
            </a:pPr>
            <a:r>
              <a:t>Gemini Multi-Key Pool</a:t>
            </a:r>
          </a:p>
          <a:p>
            <a:pPr>
              <a:spcAft>
                <a:spcPts val="400"/>
              </a:spcAft>
              <a:defRPr sz="950" b="1">
                <a:solidFill>
                  <a:srgbClr val="06B6D4"/>
                </a:solidFill>
              </a:defRPr>
            </a:pPr>
            <a:r>
              <a:t>[100% UPTIME POOL]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Auto-rotates across Gemini 2.5-Flash and 3.7-Flash with stateful 60s cooldowns—guaranteeing 0% rate-limit crashes during live traffic.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00200"/>
            <a:ext cx="3383280" cy="2468880"/>
          </a:xfrm>
          <a:prstGeom prst="roundRect">
            <a:avLst/>
          </a:prstGeom>
          <a:solidFill>
            <a:srgbClr val="162138"/>
          </a:solidFill>
          <a:ln w="15240">
            <a:solidFill>
              <a:srgbClr val="28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47888" y="1764792"/>
            <a:ext cx="438912" cy="438912"/>
          </a:xfrm>
          <a:prstGeom prst="roundRect">
            <a:avLst/>
          </a:prstGeom>
          <a:solidFill>
            <a:srgbClr val="382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atabase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1819656"/>
            <a:ext cx="329184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778240" y="1764792"/>
            <a:ext cx="2468880" cy="2167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50" b="1">
                <a:solidFill>
                  <a:srgbClr val="F8FAFC"/>
                </a:solidFill>
              </a:defRPr>
            </a:pPr>
            <a:r>
              <a:t>Supabase PostgreSQL</a:t>
            </a:r>
          </a:p>
          <a:p>
            <a:pPr>
              <a:spcAft>
                <a:spcPts val="400"/>
              </a:spcAft>
              <a:defRPr sz="950" b="1">
                <a:solidFill>
                  <a:srgbClr val="F59E0B"/>
                </a:solidFill>
              </a:defRPr>
            </a:pPr>
            <a:r>
              <a:t>[POSTGRESQL + RLS]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Row Level Security (RLS) policies guaranteeing strict patient data isolation across family profiles and logs.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97680"/>
            <a:ext cx="5212080" cy="1920240"/>
          </a:xfrm>
          <a:prstGeom prst="roundRect">
            <a:avLst/>
          </a:prstGeom>
          <a:solidFill>
            <a:srgbClr val="162138"/>
          </a:solidFill>
          <a:ln w="15240">
            <a:solidFill>
              <a:srgbClr val="28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2688" y="4462272"/>
            <a:ext cx="438912" cy="438912"/>
          </a:xfrm>
          <a:prstGeom prst="roundRect">
            <a:avLst/>
          </a:prstGeom>
          <a:solidFill>
            <a:srgbClr val="1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phone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4517136"/>
            <a:ext cx="329184" cy="32918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463040" y="4462272"/>
            <a:ext cx="4297680" cy="1618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50" b="1">
                <a:solidFill>
                  <a:srgbClr val="F8FAFC"/>
                </a:solidFill>
              </a:defRPr>
            </a:pPr>
            <a:r>
              <a:t>Flutter Cross-Platform</a:t>
            </a:r>
          </a:p>
          <a:p>
            <a:pPr>
              <a:spcAft>
                <a:spcPts val="400"/>
              </a:spcAft>
              <a:defRPr sz="950" b="1">
                <a:solidFill>
                  <a:srgbClr val="10B981"/>
                </a:solidFill>
              </a:defRPr>
            </a:pPr>
            <a:r>
              <a:t>[FLUTTER 3.x]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Android APK (backward compatible from Android 5.0 Lollipop to Android 15), iOS, and Web build pipelines.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297680"/>
            <a:ext cx="5212080" cy="1920240"/>
          </a:xfrm>
          <a:prstGeom prst="roundRect">
            <a:avLst/>
          </a:prstGeom>
          <a:solidFill>
            <a:srgbClr val="162138"/>
          </a:solidFill>
          <a:ln w="15240">
            <a:solidFill>
              <a:srgbClr val="28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19088" y="4462272"/>
            <a:ext cx="438912" cy="438912"/>
          </a:xfrm>
          <a:prstGeom prst="roundRect">
            <a:avLst/>
          </a:prstGeom>
          <a:solidFill>
            <a:srgbClr val="382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food_amb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3952" y="4517136"/>
            <a:ext cx="329184" cy="32918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949440" y="4462272"/>
            <a:ext cx="4297680" cy="1618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50" b="1">
                <a:solidFill>
                  <a:srgbClr val="F8FAFC"/>
                </a:solidFill>
              </a:defRPr>
            </a:pPr>
            <a:r>
              <a:t>Doctor PDF Stream Generator</a:t>
            </a:r>
          </a:p>
          <a:p>
            <a:pPr>
              <a:spcAft>
                <a:spcPts val="400"/>
              </a:spcAft>
              <a:defRPr sz="950" b="1">
                <a:solidFill>
                  <a:srgbClr val="06B6D4"/>
                </a:solidFill>
              </a:defRPr>
            </a:pPr>
            <a:r>
              <a:t>[PHYSICIAN REPORTS]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Zero-dependency pure Python binary PDF 1.4 engine generating weekly metabolic summaries ready for physicians.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PRODUCT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Live Demonstration Flow (90 Seconds)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2514600" cy="3291840"/>
          </a:xfrm>
          <a:prstGeom prst="roundRect">
            <a:avLst/>
          </a:prstGeom>
          <a:solidFill>
            <a:srgbClr val="162138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2688" y="1764792"/>
            <a:ext cx="475488" cy="475488"/>
          </a:xfrm>
          <a:prstGeom prst="roundRect">
            <a:avLst/>
          </a:prstGeom>
          <a:solidFill>
            <a:srgbClr val="123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amera_emera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1819656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32688" y="2331720"/>
            <a:ext cx="2112264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50" b="1">
                <a:solidFill>
                  <a:srgbClr val="F8FAFC"/>
                </a:solidFill>
              </a:defRPr>
            </a:pPr>
            <a:r>
              <a:t>Step 1: Scan Plate</a:t>
            </a:r>
          </a:p>
          <a:p>
            <a:pPr>
              <a:spcAft>
                <a:spcPts val="400"/>
              </a:spcAft>
              <a:defRPr sz="950" b="1">
                <a:solidFill>
                  <a:srgbClr val="10B981"/>
                </a:solidFill>
              </a:defRPr>
            </a:pPr>
            <a:r>
              <a:t>[MULTIMODAL AI]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Capture a photo of Biryani / Daal  ➔  instant macro breakdown with 1-tap live portion adjustment.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600200"/>
            <a:ext cx="2514600" cy="3291840"/>
          </a:xfrm>
          <a:prstGeom prst="roundRect">
            <a:avLst/>
          </a:prstGeom>
          <a:solidFill>
            <a:srgbClr val="162138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0" y="1764792"/>
            <a:ext cx="475488" cy="475488"/>
          </a:xfrm>
          <a:prstGeom prst="roundRect">
            <a:avLst/>
          </a:prstGeom>
          <a:solidFill>
            <a:srgbClr val="1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users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2464" y="1819656"/>
            <a:ext cx="365760" cy="365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57600" y="2331720"/>
            <a:ext cx="2112264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50" b="1">
                <a:solidFill>
                  <a:srgbClr val="F8FAFC"/>
                </a:solidFill>
              </a:defRPr>
            </a:pPr>
            <a:r>
              <a:t>Step 2: Switch Family</a:t>
            </a:r>
          </a:p>
          <a:p>
            <a:pPr>
              <a:spcAft>
                <a:spcPts val="400"/>
              </a:spcAft>
              <a:defRPr sz="950" b="1">
                <a:solidFill>
                  <a:srgbClr val="06B6D4"/>
                </a:solidFill>
              </a:defRPr>
            </a:pPr>
            <a:r>
              <a:t>[FAMILY PROFILES]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Tap [Abu (Senior)]  ➔  dashboard instantly reconfigures for diabetic macro targets.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600200"/>
            <a:ext cx="2514600" cy="3291840"/>
          </a:xfrm>
          <a:prstGeom prst="roundRect">
            <a:avLst/>
          </a:prstGeom>
          <a:solidFill>
            <a:srgbClr val="162138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82512" y="1764792"/>
            <a:ext cx="475488" cy="475488"/>
          </a:xfrm>
          <a:prstGeom prst="roundRect">
            <a:avLst/>
          </a:prstGeom>
          <a:solidFill>
            <a:srgbClr val="3A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zap_cor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376" y="1819656"/>
            <a:ext cx="365760" cy="3657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382512" y="2331720"/>
            <a:ext cx="2112264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50" b="1">
                <a:solidFill>
                  <a:srgbClr val="F8FAFC"/>
                </a:solidFill>
              </a:defRPr>
            </a:pPr>
            <a:r>
              <a:t>Step 3: Safety Alert</a:t>
            </a:r>
          </a:p>
          <a:p>
            <a:pPr>
              <a:spcAft>
                <a:spcPts val="400"/>
              </a:spcAft>
              <a:defRPr sz="950" b="1">
                <a:solidFill>
                  <a:srgbClr val="EF4444"/>
                </a:solidFill>
              </a:defRPr>
            </a:pPr>
            <a:r>
              <a:t>[CLINICAL GUARD]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Log glucose 62 mg/dL  ➔  immediate clinical interceptor and emergency action modal.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06256" y="1600200"/>
            <a:ext cx="2514600" cy="3291840"/>
          </a:xfrm>
          <a:prstGeom prst="roundRect">
            <a:avLst/>
          </a:prstGeom>
          <a:solidFill>
            <a:srgbClr val="162138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07424" y="1764792"/>
            <a:ext cx="475488" cy="475488"/>
          </a:xfrm>
          <a:prstGeom prst="roundRect">
            <a:avLst/>
          </a:prstGeom>
          <a:solidFill>
            <a:srgbClr val="1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moon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2288" y="1819656"/>
            <a:ext cx="365760" cy="3657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107424" y="2331720"/>
            <a:ext cx="2112264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50" b="1">
                <a:solidFill>
                  <a:srgbClr val="F8FAFC"/>
                </a:solidFill>
              </a:defRPr>
            </a:pPr>
            <a:r>
              <a:t>Step 4: Ramadan/Voice</a:t>
            </a:r>
          </a:p>
          <a:p>
            <a:pPr>
              <a:spcAft>
                <a:spcPts val="400"/>
              </a:spcAft>
              <a:defRPr sz="950" b="1">
                <a:solidFill>
                  <a:srgbClr val="F59E0B"/>
                </a:solidFill>
              </a:defRPr>
            </a:pPr>
            <a:r>
              <a:t>[URDU VOICE &amp; FASTING]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Show live Sehri/Iftar countdown clocks &amp; play neural Urdu spoken voice coaching.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166360"/>
            <a:ext cx="10698480" cy="1005840"/>
          </a:xfrm>
          <a:prstGeom prst="roundRect">
            <a:avLst/>
          </a:prstGeom>
          <a:solidFill>
            <a:srgbClr val="162138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3035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✓ Fully Configured &amp; Verified on Android Physical Device (APK) &amp; Live FastAPI Server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VISION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Market Impact, Monetization &amp;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3383280" cy="2926080"/>
          </a:xfrm>
          <a:prstGeom prst="roundRect">
            <a:avLst/>
          </a:prstGeom>
          <a:solidFill>
            <a:srgbClr val="162138"/>
          </a:solidFill>
          <a:ln w="15240">
            <a:solidFill>
              <a:srgbClr val="28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2688" y="1764792"/>
            <a:ext cx="475488" cy="475488"/>
          </a:xfrm>
          <a:prstGeom prst="roundRect">
            <a:avLst/>
          </a:prstGeom>
          <a:solidFill>
            <a:srgbClr val="123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globe_emera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1819656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32688" y="2331720"/>
            <a:ext cx="2980944" cy="2057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50" b="1">
                <a:solidFill>
                  <a:srgbClr val="F8FAFC"/>
                </a:solidFill>
              </a:defRPr>
            </a:pPr>
            <a:r>
              <a:t>300M+ Market Need</a:t>
            </a:r>
          </a:p>
          <a:p>
            <a:pPr>
              <a:spcAft>
                <a:spcPts val="400"/>
              </a:spcAft>
              <a:defRPr sz="950" b="1">
                <a:solidFill>
                  <a:srgbClr val="10B981"/>
                </a:solidFill>
              </a:defRPr>
            </a:pPr>
            <a:r>
              <a:t>[HIGH NEED DEMOGRAPHIC]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Targeted at South Asian diaspora worldwide facing alarming rates of metabolic disease with no culturally calibrated tool.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00200"/>
            <a:ext cx="3383280" cy="2926080"/>
          </a:xfrm>
          <a:prstGeom prst="roundRect">
            <a:avLst/>
          </a:prstGeom>
          <a:solidFill>
            <a:srgbClr val="162138"/>
          </a:solidFill>
          <a:ln w="15240">
            <a:solidFill>
              <a:srgbClr val="28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90288" y="1764792"/>
            <a:ext cx="475488" cy="475488"/>
          </a:xfrm>
          <a:prstGeom prst="roundRect">
            <a:avLst/>
          </a:prstGeom>
          <a:solidFill>
            <a:srgbClr val="1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riefcase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152" y="1819656"/>
            <a:ext cx="365760" cy="365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90288" y="2331720"/>
            <a:ext cx="2980944" cy="2057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50" b="1">
                <a:solidFill>
                  <a:srgbClr val="F8FAFC"/>
                </a:solidFill>
              </a:defRPr>
            </a:pPr>
            <a:r>
              <a:t>Business Model</a:t>
            </a:r>
          </a:p>
          <a:p>
            <a:pPr>
              <a:spcAft>
                <a:spcPts val="400"/>
              </a:spcAft>
              <a:defRPr sz="950" b="1">
                <a:solidFill>
                  <a:srgbClr val="06B6D4"/>
                </a:solidFill>
              </a:defRPr>
            </a:pPr>
            <a:r>
              <a:t>[B2C + B2B MONETIZATION]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B2C Freemium: Free core tracking + Premium AI coaching &amp; Family Profiles.</a:t>
            </a:r>
            <a:br/>
            <a:r>
              <a:t>• B2B Clinical: Standardized physician reports for clinics and diagnostic labs.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00200"/>
            <a:ext cx="3383280" cy="2926080"/>
          </a:xfrm>
          <a:prstGeom prst="roundRect">
            <a:avLst/>
          </a:prstGeom>
          <a:solidFill>
            <a:srgbClr val="162138"/>
          </a:solidFill>
          <a:ln w="15240">
            <a:solidFill>
              <a:srgbClr val="28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47888" y="1764792"/>
            <a:ext cx="475488" cy="475488"/>
          </a:xfrm>
          <a:prstGeom prst="roundRect">
            <a:avLst/>
          </a:prstGeom>
          <a:solidFill>
            <a:srgbClr val="382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rocket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1819656"/>
            <a:ext cx="365760" cy="3657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47888" y="2331720"/>
            <a:ext cx="2980944" cy="2057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50" b="1">
                <a:solidFill>
                  <a:srgbClr val="F8FAFC"/>
                </a:solidFill>
              </a:defRPr>
            </a:pPr>
            <a:r>
              <a:t>Future Roadmap</a:t>
            </a:r>
          </a:p>
          <a:p>
            <a:pPr>
              <a:spcAft>
                <a:spcPts val="400"/>
              </a:spcAft>
              <a:defRPr sz="950" b="1">
                <a:solidFill>
                  <a:srgbClr val="F59E0B"/>
                </a:solidFill>
              </a:defRPr>
            </a:pPr>
            <a:r>
              <a:t>[UPCOMING MILESTONES]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Continuous Glucose Monitor (CGM) Bluetooth sync.</a:t>
            </a:r>
            <a:br/>
            <a:r>
              <a:t>• Urdu speech-to-text plate logging.</a:t>
            </a:r>
            <a:br/>
            <a:r>
              <a:t>• Blood report lab OCR analysis.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800600"/>
            <a:ext cx="10698480" cy="1371600"/>
          </a:xfrm>
          <a:prstGeom prst="roundRect">
            <a:avLst/>
          </a:prstGeom>
          <a:solidFill>
            <a:srgbClr val="162138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93776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F8FAFC"/>
                </a:solidFill>
              </a:defRPr>
            </a:pPr>
            <a:r>
              <a:t>"Making metabolic health culturally accurate, clinically safe, and universally accessible."</a:t>
            </a:r>
          </a:p>
          <a:p>
            <a:pPr algn="ctr">
              <a:defRPr sz="1300" b="1">
                <a:solidFill>
                  <a:srgbClr val="10B981"/>
                </a:solidFill>
              </a:defRPr>
            </a:pPr>
            <a:r>
              <a:t>Thank you! — Open for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