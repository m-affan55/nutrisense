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6" r:id="rId3"/>
    <p:sldId id="258" r:id="rId4"/>
    <p:sldId id="267" r:id="rId5"/>
    <p:sldId id="268" r:id="rId6"/>
    <p:sldId id="259" r:id="rId7"/>
    <p:sldId id="269" r:id="rId8"/>
    <p:sldId id="260" r:id="rId9"/>
    <p:sldId id="261" r:id="rId10"/>
    <p:sldId id="262" r:id="rId11"/>
    <p:sldId id="263" r:id="rId12"/>
    <p:sldId id="270" r:id="rId13"/>
    <p:sldId id="264" r:id="rId14"/>
    <p:sldId id="271" r:id="rId15"/>
    <p:sldId id="265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5A81789-ECFE-4143-BECC-013ABFDFCFBC}">
          <p14:sldIdLst>
            <p14:sldId id="256"/>
            <p14:sldId id="266"/>
            <p14:sldId id="258"/>
            <p14:sldId id="267"/>
            <p14:sldId id="268"/>
            <p14:sldId id="259"/>
            <p14:sldId id="269"/>
            <p14:sldId id="260"/>
            <p14:sldId id="261"/>
            <p14:sldId id="262"/>
            <p14:sldId id="263"/>
            <p14:sldId id="270"/>
            <p14:sldId id="264"/>
            <p14:sldId id="271"/>
            <p14:sldId id="265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CD4"/>
    <a:srgbClr val="00B050"/>
    <a:srgbClr val="3B4A1E"/>
    <a:srgbClr val="94A3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26" autoAdjust="0"/>
    <p:restoredTop sz="94660"/>
  </p:normalViewPr>
  <p:slideViewPr>
    <p:cSldViewPr snapToGrid="0" snapToObjects="1">
      <p:cViewPr>
        <p:scale>
          <a:sx n="50" d="100"/>
          <a:sy n="50" d="100"/>
        </p:scale>
        <p:origin x="822" y="3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17553F0-5AA8-4910-B7E3-8EB3A96C142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5572B0-7931-4D1C-9E6C-BA0F6F5E1884}">
      <dgm:prSet phldrT="[Text]"/>
      <dgm:spPr>
        <a:noFill/>
      </dgm:spPr>
      <dgm:t>
        <a:bodyPr/>
        <a:lstStyle/>
        <a:p>
          <a:r>
            <a:rPr lang="en-US" dirty="0">
              <a:solidFill>
                <a:srgbClr val="00B050"/>
              </a:solidFill>
            </a:rPr>
            <a:t>Step 1:</a:t>
          </a:r>
          <a:r>
            <a:rPr lang="en-US" dirty="0"/>
            <a:t> </a:t>
          </a:r>
          <a:br>
            <a:rPr lang="en-US" dirty="0"/>
          </a:br>
          <a:r>
            <a:rPr lang="en-US" dirty="0">
              <a:solidFill>
                <a:srgbClr val="00BCD4"/>
              </a:solidFill>
            </a:rPr>
            <a:t>Patient History RAG</a:t>
          </a:r>
          <a:endParaRPr lang="en-US" dirty="0"/>
        </a:p>
      </dgm:t>
    </dgm:pt>
    <dgm:pt modelId="{B7AC0998-9475-4DD2-8C4D-1AB1EFCDAD92}" type="parTrans" cxnId="{F8EF4D5F-5C8B-470F-9A5A-5F4A17EFDA4D}">
      <dgm:prSet/>
      <dgm:spPr/>
      <dgm:t>
        <a:bodyPr/>
        <a:lstStyle/>
        <a:p>
          <a:endParaRPr lang="en-US"/>
        </a:p>
      </dgm:t>
    </dgm:pt>
    <dgm:pt modelId="{97251A8D-74DE-4268-AD28-68271BA22678}" type="sibTrans" cxnId="{F8EF4D5F-5C8B-470F-9A5A-5F4A17EFDA4D}">
      <dgm:prSet/>
      <dgm:spPr/>
      <dgm:t>
        <a:bodyPr/>
        <a:lstStyle/>
        <a:p>
          <a:endParaRPr lang="en-US"/>
        </a:p>
      </dgm:t>
    </dgm:pt>
    <dgm:pt modelId="{15D2EE14-DBFA-4745-8D92-4ECABED2E6D6}">
      <dgm:prSet phldrT="[Text]"/>
      <dgm:spPr>
        <a:noFill/>
      </dgm:spPr>
      <dgm:t>
        <a:bodyPr/>
        <a:lstStyle/>
        <a:p>
          <a:r>
            <a:rPr lang="en-US" dirty="0">
              <a:solidFill>
                <a:srgbClr val="00B050"/>
              </a:solidFill>
            </a:rPr>
            <a:t>Step 2:</a:t>
          </a:r>
          <a:r>
            <a:rPr lang="en-US" dirty="0"/>
            <a:t> </a:t>
          </a:r>
          <a:r>
            <a:rPr lang="en-US" dirty="0">
              <a:solidFill>
                <a:srgbClr val="00BCD4"/>
              </a:solidFill>
            </a:rPr>
            <a:t>Contextual AI Coach</a:t>
          </a:r>
          <a:endParaRPr lang="en-US" dirty="0"/>
        </a:p>
      </dgm:t>
    </dgm:pt>
    <dgm:pt modelId="{6BC216E7-DA84-4503-B865-BF5CC524FC6A}" type="parTrans" cxnId="{0C2A66C0-5F63-4F6C-B58D-F91D562B75B0}">
      <dgm:prSet/>
      <dgm:spPr/>
      <dgm:t>
        <a:bodyPr/>
        <a:lstStyle/>
        <a:p>
          <a:endParaRPr lang="en-US"/>
        </a:p>
      </dgm:t>
    </dgm:pt>
    <dgm:pt modelId="{AB194FDB-D2E2-4FB1-B16B-E5D51F428218}" type="sibTrans" cxnId="{0C2A66C0-5F63-4F6C-B58D-F91D562B75B0}">
      <dgm:prSet/>
      <dgm:spPr/>
      <dgm:t>
        <a:bodyPr/>
        <a:lstStyle/>
        <a:p>
          <a:endParaRPr lang="en-US"/>
        </a:p>
      </dgm:t>
    </dgm:pt>
    <dgm:pt modelId="{4C9BCA3D-A789-4A45-932F-AD5AD6C004CD}">
      <dgm:prSet phldrT="[Text]"/>
      <dgm:spPr>
        <a:noFill/>
      </dgm:spPr>
      <dgm:t>
        <a:bodyPr/>
        <a:lstStyle/>
        <a:p>
          <a:r>
            <a:rPr lang="en-US" dirty="0">
              <a:solidFill>
                <a:srgbClr val="00B050"/>
              </a:solidFill>
            </a:rPr>
            <a:t>Step 3:</a:t>
          </a:r>
          <a:r>
            <a:rPr lang="en-US" dirty="0"/>
            <a:t> </a:t>
          </a:r>
          <a:r>
            <a:rPr lang="en-US" dirty="0">
              <a:solidFill>
                <a:srgbClr val="00BCD4"/>
              </a:solidFill>
            </a:rPr>
            <a:t>Independent Risk Evaluator</a:t>
          </a:r>
          <a:endParaRPr lang="en-US" dirty="0"/>
        </a:p>
      </dgm:t>
    </dgm:pt>
    <dgm:pt modelId="{58DBE23C-50CB-4E33-89ED-907291AF790F}" type="parTrans" cxnId="{54FCF18F-8B0F-4EDC-A224-10B533CAF5BB}">
      <dgm:prSet/>
      <dgm:spPr/>
      <dgm:t>
        <a:bodyPr/>
        <a:lstStyle/>
        <a:p>
          <a:endParaRPr lang="en-US"/>
        </a:p>
      </dgm:t>
    </dgm:pt>
    <dgm:pt modelId="{DF657F20-C4BA-486E-912B-52E28EF1B1DC}" type="sibTrans" cxnId="{54FCF18F-8B0F-4EDC-A224-10B533CAF5BB}">
      <dgm:prSet/>
      <dgm:spPr/>
      <dgm:t>
        <a:bodyPr/>
        <a:lstStyle/>
        <a:p>
          <a:endParaRPr lang="en-US"/>
        </a:p>
      </dgm:t>
    </dgm:pt>
    <dgm:pt modelId="{6D2313A3-B612-424D-8B2C-E680177E9049}" type="pres">
      <dgm:prSet presAssocID="{117553F0-5AA8-4910-B7E3-8EB3A96C142F}" presName="Name0" presStyleCnt="0">
        <dgm:presLayoutVars>
          <dgm:dir/>
          <dgm:resizeHandles val="exact"/>
        </dgm:presLayoutVars>
      </dgm:prSet>
      <dgm:spPr/>
    </dgm:pt>
    <dgm:pt modelId="{358F0CCA-C405-4C18-9A4B-12EB4D925953}" type="pres">
      <dgm:prSet presAssocID="{355572B0-7931-4D1C-9E6C-BA0F6F5E1884}" presName="node" presStyleLbl="node1" presStyleIdx="0" presStyleCnt="3">
        <dgm:presLayoutVars>
          <dgm:bulletEnabled val="1"/>
        </dgm:presLayoutVars>
      </dgm:prSet>
      <dgm:spPr/>
    </dgm:pt>
    <dgm:pt modelId="{7CBCEC36-CCF4-40D1-A329-0EF57A591F17}" type="pres">
      <dgm:prSet presAssocID="{97251A8D-74DE-4268-AD28-68271BA22678}" presName="sibTrans" presStyleLbl="sibTrans2D1" presStyleIdx="0" presStyleCnt="2"/>
      <dgm:spPr/>
    </dgm:pt>
    <dgm:pt modelId="{333951D5-5EE5-436E-BBE6-8A1841EFECD6}" type="pres">
      <dgm:prSet presAssocID="{97251A8D-74DE-4268-AD28-68271BA22678}" presName="connectorText" presStyleLbl="sibTrans2D1" presStyleIdx="0" presStyleCnt="2"/>
      <dgm:spPr/>
    </dgm:pt>
    <dgm:pt modelId="{1DAC2B20-5596-4F50-AC66-61E1749835E7}" type="pres">
      <dgm:prSet presAssocID="{15D2EE14-DBFA-4745-8D92-4ECABED2E6D6}" presName="node" presStyleLbl="node1" presStyleIdx="1" presStyleCnt="3">
        <dgm:presLayoutVars>
          <dgm:bulletEnabled val="1"/>
        </dgm:presLayoutVars>
      </dgm:prSet>
      <dgm:spPr/>
    </dgm:pt>
    <dgm:pt modelId="{C4D838DA-31AA-4ED3-978A-8457C6456D0C}" type="pres">
      <dgm:prSet presAssocID="{AB194FDB-D2E2-4FB1-B16B-E5D51F428218}" presName="sibTrans" presStyleLbl="sibTrans2D1" presStyleIdx="1" presStyleCnt="2"/>
      <dgm:spPr/>
    </dgm:pt>
    <dgm:pt modelId="{3A853972-845B-4C87-8284-DE1379EB10B1}" type="pres">
      <dgm:prSet presAssocID="{AB194FDB-D2E2-4FB1-B16B-E5D51F428218}" presName="connectorText" presStyleLbl="sibTrans2D1" presStyleIdx="1" presStyleCnt="2"/>
      <dgm:spPr/>
    </dgm:pt>
    <dgm:pt modelId="{86D94AA4-46A5-4D65-A48B-C6E3864CC223}" type="pres">
      <dgm:prSet presAssocID="{4C9BCA3D-A789-4A45-932F-AD5AD6C004CD}" presName="node" presStyleLbl="node1" presStyleIdx="2" presStyleCnt="3">
        <dgm:presLayoutVars>
          <dgm:bulletEnabled val="1"/>
        </dgm:presLayoutVars>
      </dgm:prSet>
      <dgm:spPr/>
    </dgm:pt>
  </dgm:ptLst>
  <dgm:cxnLst>
    <dgm:cxn modelId="{70571315-4A67-48B8-AD67-40C592D89ED6}" type="presOf" srcId="{AB194FDB-D2E2-4FB1-B16B-E5D51F428218}" destId="{3A853972-845B-4C87-8284-DE1379EB10B1}" srcOrd="1" destOrd="0" presId="urn:microsoft.com/office/officeart/2005/8/layout/process1"/>
    <dgm:cxn modelId="{4D090640-3A88-416F-A903-312DBE51430E}" type="presOf" srcId="{AB194FDB-D2E2-4FB1-B16B-E5D51F428218}" destId="{C4D838DA-31AA-4ED3-978A-8457C6456D0C}" srcOrd="0" destOrd="0" presId="urn:microsoft.com/office/officeart/2005/8/layout/process1"/>
    <dgm:cxn modelId="{F8EF4D5F-5C8B-470F-9A5A-5F4A17EFDA4D}" srcId="{117553F0-5AA8-4910-B7E3-8EB3A96C142F}" destId="{355572B0-7931-4D1C-9E6C-BA0F6F5E1884}" srcOrd="0" destOrd="0" parTransId="{B7AC0998-9475-4DD2-8C4D-1AB1EFCDAD92}" sibTransId="{97251A8D-74DE-4268-AD28-68271BA22678}"/>
    <dgm:cxn modelId="{A01CC142-8C20-4162-81DF-E8FE99604D9E}" type="presOf" srcId="{15D2EE14-DBFA-4745-8D92-4ECABED2E6D6}" destId="{1DAC2B20-5596-4F50-AC66-61E1749835E7}" srcOrd="0" destOrd="0" presId="urn:microsoft.com/office/officeart/2005/8/layout/process1"/>
    <dgm:cxn modelId="{275DA243-9550-44C7-AAAF-23020B49FC3B}" type="presOf" srcId="{355572B0-7931-4D1C-9E6C-BA0F6F5E1884}" destId="{358F0CCA-C405-4C18-9A4B-12EB4D925953}" srcOrd="0" destOrd="0" presId="urn:microsoft.com/office/officeart/2005/8/layout/process1"/>
    <dgm:cxn modelId="{A1302E67-DA08-45FA-8EA7-444B3710CE66}" type="presOf" srcId="{97251A8D-74DE-4268-AD28-68271BA22678}" destId="{333951D5-5EE5-436E-BBE6-8A1841EFECD6}" srcOrd="1" destOrd="0" presId="urn:microsoft.com/office/officeart/2005/8/layout/process1"/>
    <dgm:cxn modelId="{8104C556-9CB1-4BAE-A4BF-A39410900297}" type="presOf" srcId="{97251A8D-74DE-4268-AD28-68271BA22678}" destId="{7CBCEC36-CCF4-40D1-A329-0EF57A591F17}" srcOrd="0" destOrd="0" presId="urn:microsoft.com/office/officeart/2005/8/layout/process1"/>
    <dgm:cxn modelId="{54FCF18F-8B0F-4EDC-A224-10B533CAF5BB}" srcId="{117553F0-5AA8-4910-B7E3-8EB3A96C142F}" destId="{4C9BCA3D-A789-4A45-932F-AD5AD6C004CD}" srcOrd="2" destOrd="0" parTransId="{58DBE23C-50CB-4E33-89ED-907291AF790F}" sibTransId="{DF657F20-C4BA-486E-912B-52E28EF1B1DC}"/>
    <dgm:cxn modelId="{0C2A66C0-5F63-4F6C-B58D-F91D562B75B0}" srcId="{117553F0-5AA8-4910-B7E3-8EB3A96C142F}" destId="{15D2EE14-DBFA-4745-8D92-4ECABED2E6D6}" srcOrd="1" destOrd="0" parTransId="{6BC216E7-DA84-4503-B865-BF5CC524FC6A}" sibTransId="{AB194FDB-D2E2-4FB1-B16B-E5D51F428218}"/>
    <dgm:cxn modelId="{1660A9CC-A3A2-40C7-88D1-2D08CBB75D5C}" type="presOf" srcId="{4C9BCA3D-A789-4A45-932F-AD5AD6C004CD}" destId="{86D94AA4-46A5-4D65-A48B-C6E3864CC223}" srcOrd="0" destOrd="0" presId="urn:microsoft.com/office/officeart/2005/8/layout/process1"/>
    <dgm:cxn modelId="{57EA19FD-61D5-404F-BA0B-6ABA3E8EB16F}" type="presOf" srcId="{117553F0-5AA8-4910-B7E3-8EB3A96C142F}" destId="{6D2313A3-B612-424D-8B2C-E680177E9049}" srcOrd="0" destOrd="0" presId="urn:microsoft.com/office/officeart/2005/8/layout/process1"/>
    <dgm:cxn modelId="{2FD96992-04FE-4503-B0E7-AE9037027E86}" type="presParOf" srcId="{6D2313A3-B612-424D-8B2C-E680177E9049}" destId="{358F0CCA-C405-4C18-9A4B-12EB4D925953}" srcOrd="0" destOrd="0" presId="urn:microsoft.com/office/officeart/2005/8/layout/process1"/>
    <dgm:cxn modelId="{EEF49F18-5F3E-4B73-BA64-E717F4586D50}" type="presParOf" srcId="{6D2313A3-B612-424D-8B2C-E680177E9049}" destId="{7CBCEC36-CCF4-40D1-A329-0EF57A591F17}" srcOrd="1" destOrd="0" presId="urn:microsoft.com/office/officeart/2005/8/layout/process1"/>
    <dgm:cxn modelId="{D97EB0C3-AE70-4C58-8B6A-42AA023FF49E}" type="presParOf" srcId="{7CBCEC36-CCF4-40D1-A329-0EF57A591F17}" destId="{333951D5-5EE5-436E-BBE6-8A1841EFECD6}" srcOrd="0" destOrd="0" presId="urn:microsoft.com/office/officeart/2005/8/layout/process1"/>
    <dgm:cxn modelId="{84918AE5-5E07-44FF-9E15-C761D3D45F94}" type="presParOf" srcId="{6D2313A3-B612-424D-8B2C-E680177E9049}" destId="{1DAC2B20-5596-4F50-AC66-61E1749835E7}" srcOrd="2" destOrd="0" presId="urn:microsoft.com/office/officeart/2005/8/layout/process1"/>
    <dgm:cxn modelId="{D985D39B-D290-48B0-A5B1-0D5D90CD3AB9}" type="presParOf" srcId="{6D2313A3-B612-424D-8B2C-E680177E9049}" destId="{C4D838DA-31AA-4ED3-978A-8457C6456D0C}" srcOrd="3" destOrd="0" presId="urn:microsoft.com/office/officeart/2005/8/layout/process1"/>
    <dgm:cxn modelId="{36415646-0BB6-4A89-A728-DCE937C7706E}" type="presParOf" srcId="{C4D838DA-31AA-4ED3-978A-8457C6456D0C}" destId="{3A853972-845B-4C87-8284-DE1379EB10B1}" srcOrd="0" destOrd="0" presId="urn:microsoft.com/office/officeart/2005/8/layout/process1"/>
    <dgm:cxn modelId="{4889DB4C-294F-4CA8-8AB1-1AC0AE007F48}" type="presParOf" srcId="{6D2313A3-B612-424D-8B2C-E680177E9049}" destId="{86D94AA4-46A5-4D65-A48B-C6E3864CC22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8F0CCA-C405-4C18-9A4B-12EB4D925953}">
      <dsp:nvSpPr>
        <dsp:cNvPr id="0" name=""/>
        <dsp:cNvSpPr/>
      </dsp:nvSpPr>
      <dsp:spPr>
        <a:xfrm>
          <a:off x="7143" y="466495"/>
          <a:ext cx="2135187" cy="1281112"/>
        </a:xfrm>
        <a:prstGeom prst="roundRect">
          <a:avLst>
            <a:gd name="adj" fmla="val 10000"/>
          </a:avLst>
        </a:prstGeom>
        <a:noFill/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rgbClr val="00B050"/>
              </a:solidFill>
            </a:rPr>
            <a:t>Step 1:</a:t>
          </a:r>
          <a:r>
            <a:rPr lang="en-US" sz="2400" kern="1200" dirty="0"/>
            <a:t> </a:t>
          </a:r>
          <a:br>
            <a:rPr lang="en-US" sz="2400" kern="1200" dirty="0"/>
          </a:br>
          <a:r>
            <a:rPr lang="en-US" sz="2400" kern="1200" dirty="0">
              <a:solidFill>
                <a:srgbClr val="00BCD4"/>
              </a:solidFill>
            </a:rPr>
            <a:t>Patient History RAG</a:t>
          </a:r>
          <a:endParaRPr lang="en-US" sz="2400" kern="1200" dirty="0"/>
        </a:p>
      </dsp:txBody>
      <dsp:txXfrm>
        <a:off x="44665" y="504017"/>
        <a:ext cx="2060143" cy="1206068"/>
      </dsp:txXfrm>
    </dsp:sp>
    <dsp:sp modelId="{7CBCEC36-CCF4-40D1-A329-0EF57A591F17}">
      <dsp:nvSpPr>
        <dsp:cNvPr id="0" name=""/>
        <dsp:cNvSpPr/>
      </dsp:nvSpPr>
      <dsp:spPr>
        <a:xfrm>
          <a:off x="2355850" y="842288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2355850" y="948193"/>
        <a:ext cx="316861" cy="317716"/>
      </dsp:txXfrm>
    </dsp:sp>
    <dsp:sp modelId="{1DAC2B20-5596-4F50-AC66-61E1749835E7}">
      <dsp:nvSpPr>
        <dsp:cNvPr id="0" name=""/>
        <dsp:cNvSpPr/>
      </dsp:nvSpPr>
      <dsp:spPr>
        <a:xfrm>
          <a:off x="2996406" y="466495"/>
          <a:ext cx="2135187" cy="1281112"/>
        </a:xfrm>
        <a:prstGeom prst="roundRect">
          <a:avLst>
            <a:gd name="adj" fmla="val 10000"/>
          </a:avLst>
        </a:prstGeom>
        <a:noFill/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rgbClr val="00B050"/>
              </a:solidFill>
            </a:rPr>
            <a:t>Step 2:</a:t>
          </a:r>
          <a:r>
            <a:rPr lang="en-US" sz="2400" kern="1200" dirty="0"/>
            <a:t> </a:t>
          </a:r>
          <a:r>
            <a:rPr lang="en-US" sz="2400" kern="1200" dirty="0">
              <a:solidFill>
                <a:srgbClr val="00BCD4"/>
              </a:solidFill>
            </a:rPr>
            <a:t>Contextual AI Coach</a:t>
          </a:r>
          <a:endParaRPr lang="en-US" sz="2400" kern="1200" dirty="0"/>
        </a:p>
      </dsp:txBody>
      <dsp:txXfrm>
        <a:off x="3033928" y="504017"/>
        <a:ext cx="2060143" cy="1206068"/>
      </dsp:txXfrm>
    </dsp:sp>
    <dsp:sp modelId="{C4D838DA-31AA-4ED3-978A-8457C6456D0C}">
      <dsp:nvSpPr>
        <dsp:cNvPr id="0" name=""/>
        <dsp:cNvSpPr/>
      </dsp:nvSpPr>
      <dsp:spPr>
        <a:xfrm>
          <a:off x="5345112" y="842288"/>
          <a:ext cx="452659" cy="5295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5345112" y="948193"/>
        <a:ext cx="316861" cy="317716"/>
      </dsp:txXfrm>
    </dsp:sp>
    <dsp:sp modelId="{86D94AA4-46A5-4D65-A48B-C6E3864CC223}">
      <dsp:nvSpPr>
        <dsp:cNvPr id="0" name=""/>
        <dsp:cNvSpPr/>
      </dsp:nvSpPr>
      <dsp:spPr>
        <a:xfrm>
          <a:off x="5985668" y="466495"/>
          <a:ext cx="2135187" cy="1281112"/>
        </a:xfrm>
        <a:prstGeom prst="roundRect">
          <a:avLst>
            <a:gd name="adj" fmla="val 10000"/>
          </a:avLst>
        </a:prstGeom>
        <a:noFill/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>
              <a:solidFill>
                <a:srgbClr val="00B050"/>
              </a:solidFill>
            </a:rPr>
            <a:t>Step 3:</a:t>
          </a:r>
          <a:r>
            <a:rPr lang="en-US" sz="2400" kern="1200" dirty="0"/>
            <a:t> </a:t>
          </a:r>
          <a:r>
            <a:rPr lang="en-US" sz="2400" kern="1200" dirty="0">
              <a:solidFill>
                <a:srgbClr val="00BCD4"/>
              </a:solidFill>
            </a:rPr>
            <a:t>Independent Risk Evaluator</a:t>
          </a:r>
          <a:endParaRPr lang="en-US" sz="2400" kern="1200" dirty="0"/>
        </a:p>
      </dsp:txBody>
      <dsp:txXfrm>
        <a:off x="6023190" y="504017"/>
        <a:ext cx="2060143" cy="12060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46D012-A45F-4846-8AFC-37BC97F59AF6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34013A-0831-4DE3-A2B4-97DCDA2DB4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323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6568" y="1330884"/>
            <a:ext cx="490313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rPr lang="en-US" sz="3200" dirty="0">
                <a:solidFill>
                  <a:srgbClr val="10B981"/>
                </a:solidFill>
              </a:rPr>
              <a:t>Bano Qabil Hackathon 2026</a:t>
            </a:r>
            <a:endParaRPr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1849331" y="2023175"/>
            <a:ext cx="8493031" cy="1862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10B981"/>
                </a:solidFill>
              </a:defRPr>
            </a:pPr>
            <a:r>
              <a:rPr sz="11500" dirty="0" err="1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Nutri</a:t>
            </a:r>
            <a:r>
              <a:rPr sz="11500" dirty="0" err="1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Sense</a:t>
            </a:r>
            <a:endParaRPr sz="11500" dirty="0">
              <a:solidFill>
                <a:srgbClr val="00BCD4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1A06278-29F6-A04C-9812-550A6F5B2CD8}"/>
              </a:ext>
            </a:extLst>
          </p:cNvPr>
          <p:cNvGrpSpPr/>
          <p:nvPr/>
        </p:nvGrpSpPr>
        <p:grpSpPr>
          <a:xfrm>
            <a:off x="2251432" y="3967841"/>
            <a:ext cx="7713407" cy="1113645"/>
            <a:chOff x="2227006" y="3281374"/>
            <a:chExt cx="7713407" cy="1113645"/>
          </a:xfrm>
        </p:grpSpPr>
        <p:sp>
          <p:nvSpPr>
            <p:cNvPr id="6" name="Rounded Rectangle 5"/>
            <p:cNvSpPr/>
            <p:nvPr/>
          </p:nvSpPr>
          <p:spPr>
            <a:xfrm>
              <a:off x="2227006" y="3281374"/>
              <a:ext cx="7713407" cy="1113645"/>
            </a:xfrm>
            <a:prstGeom prst="roundRect">
              <a:avLst/>
            </a:prstGeom>
            <a:solidFill>
              <a:srgbClr val="162138"/>
            </a:solidFill>
            <a:ln w="19050">
              <a:solidFill>
                <a:srgbClr val="10B98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358278" y="3319834"/>
              <a:ext cx="7475444" cy="95410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000">
                  <a:solidFill>
                    <a:srgbClr val="F8FAFC"/>
                  </a:solidFill>
                </a:defRPr>
              </a:pPr>
              <a:r>
                <a:rPr sz="2800" b="1" dirty="0"/>
                <a:t>AI-Powered Precision Nutrition, Clinical Safety &amp; </a:t>
              </a:r>
              <a:endParaRPr lang="en-US" sz="2800" b="1" dirty="0"/>
            </a:p>
            <a:p>
              <a:pPr algn="ctr">
                <a:defRPr sz="2000">
                  <a:solidFill>
                    <a:srgbClr val="F8FAFC"/>
                  </a:solidFill>
                </a:defRPr>
              </a:pPr>
              <a:r>
                <a:rPr sz="2800" b="1" dirty="0"/>
                <a:t>Metabolic Health Suite for South Asia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2AB-59FB-00B4-318A-83AFC6181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D209EE-9D1F-6DCE-3E1E-DD10549D36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A569F4C-6DF5-FFAC-7B35-3079EE40548E}"/>
              </a:ext>
            </a:extLst>
          </p:cNvPr>
          <p:cNvSpPr/>
          <p:nvPr/>
        </p:nvSpPr>
        <p:spPr>
          <a:xfrm>
            <a:off x="921282" y="2552338"/>
            <a:ext cx="4953000" cy="2752163"/>
          </a:xfrm>
          <a:prstGeom prst="roundRect">
            <a:avLst/>
          </a:prstGeom>
          <a:solidFill>
            <a:srgbClr val="1621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b="1" dirty="0">
              <a:solidFill>
                <a:srgbClr val="00BCD4"/>
              </a:solidFill>
            </a:endParaRPr>
          </a:p>
          <a:p>
            <a:pPr algn="ctr"/>
            <a:r>
              <a:rPr lang="en-US" sz="3200" b="1" dirty="0">
                <a:solidFill>
                  <a:srgbClr val="00BCD4"/>
                </a:solidFill>
              </a:rPr>
              <a:t>Jamal Matloob</a:t>
            </a:r>
            <a:endParaRPr sz="3200" b="1" dirty="0">
              <a:solidFill>
                <a:srgbClr val="00BCD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5DB81-1390-25D2-7BE3-407EF0783FB7}"/>
              </a:ext>
            </a:extLst>
          </p:cNvPr>
          <p:cNvSpPr txBox="1"/>
          <p:nvPr/>
        </p:nvSpPr>
        <p:spPr>
          <a:xfrm>
            <a:off x="921282" y="1640021"/>
            <a:ext cx="9235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0B981"/>
                </a:solidFill>
              </a:defRPr>
            </a:pPr>
            <a:r>
              <a:rPr sz="32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PRESENTED BY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8DACFB04-01DC-EC63-89BD-A51138E1E101}"/>
              </a:ext>
            </a:extLst>
          </p:cNvPr>
          <p:cNvSpPr/>
          <p:nvPr/>
        </p:nvSpPr>
        <p:spPr>
          <a:xfrm>
            <a:off x="6317718" y="2552339"/>
            <a:ext cx="4953000" cy="2752162"/>
          </a:xfrm>
          <a:prstGeom prst="roundRect">
            <a:avLst/>
          </a:prstGeom>
          <a:solidFill>
            <a:srgbClr val="1621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b="1" dirty="0">
              <a:solidFill>
                <a:srgbClr val="00BCD4"/>
              </a:solidFill>
            </a:endParaRPr>
          </a:p>
          <a:p>
            <a:pPr algn="ctr"/>
            <a:r>
              <a:rPr lang="en-US" sz="3200" b="1" dirty="0">
                <a:solidFill>
                  <a:srgbClr val="00BCD4"/>
                </a:solidFill>
              </a:rPr>
              <a:t>Affan Asim</a:t>
            </a:r>
            <a:endParaRPr sz="3200" b="1" dirty="0">
              <a:solidFill>
                <a:srgbClr val="00BCD4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883EFB1-21F8-635E-9495-C79777B3E8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2" y="2645617"/>
            <a:ext cx="1219200" cy="1219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8C05F7D-3B1E-803B-7F81-09D74B597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22" y="2645617"/>
            <a:ext cx="1219200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125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DF15AE-12B5-0BDB-8E37-F7044E31F8BA}"/>
              </a:ext>
            </a:extLst>
          </p:cNvPr>
          <p:cNvSpPr txBox="1"/>
          <p:nvPr/>
        </p:nvSpPr>
        <p:spPr>
          <a:xfrm>
            <a:off x="682018" y="2644170"/>
            <a:ext cx="108276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THE CHALLENGES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C5C65-2D49-17C8-7FF1-D139B82D8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F0CF13-7D97-EBFC-DA46-B18DB548BE3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631D7-FF56-5798-7DDE-698768FCED5F}"/>
              </a:ext>
            </a:extLst>
          </p:cNvPr>
          <p:cNvSpPr txBox="1"/>
          <p:nvPr/>
        </p:nvSpPr>
        <p:spPr>
          <a:xfrm>
            <a:off x="731520" y="77924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The South Asian Chronic Health &amp; Nutrition Gap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343BC99-9E3D-F96C-EB96-70A6501CC7C9}"/>
              </a:ext>
            </a:extLst>
          </p:cNvPr>
          <p:cNvGrpSpPr/>
          <p:nvPr/>
        </p:nvGrpSpPr>
        <p:grpSpPr>
          <a:xfrm>
            <a:off x="731520" y="1600200"/>
            <a:ext cx="5212080" cy="2286000"/>
            <a:chOff x="731520" y="1600200"/>
            <a:chExt cx="5212080" cy="2286000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F7E0914E-BC1C-8F4B-8A56-557A5E67D956}"/>
                </a:ext>
              </a:extLst>
            </p:cNvPr>
            <p:cNvSpPr/>
            <p:nvPr/>
          </p:nvSpPr>
          <p:spPr>
            <a:xfrm>
              <a:off x="731520" y="1600200"/>
              <a:ext cx="5212080" cy="2286000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EF444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EBF041F-F429-E9FF-E82A-0FC58B65D27C}"/>
                </a:ext>
              </a:extLst>
            </p:cNvPr>
            <p:cNvGrpSpPr/>
            <p:nvPr/>
          </p:nvGrpSpPr>
          <p:grpSpPr>
            <a:xfrm>
              <a:off x="932688" y="1764792"/>
              <a:ext cx="438912" cy="438912"/>
              <a:chOff x="932688" y="1764792"/>
              <a:chExt cx="438912" cy="438912"/>
            </a:xfrm>
          </p:grpSpPr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E7F51AD-C151-A4E7-96A0-AC82ACEDEB7A}"/>
                  </a:ext>
                </a:extLst>
              </p:cNvPr>
              <p:cNvSpPr/>
              <p:nvPr/>
            </p:nvSpPr>
            <p:spPr>
              <a:xfrm>
                <a:off x="932688" y="1764792"/>
                <a:ext cx="438912" cy="438912"/>
              </a:xfrm>
              <a:prstGeom prst="roundRect">
                <a:avLst/>
              </a:prstGeom>
              <a:solidFill>
                <a:srgbClr val="3A1C2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7" name="Picture 6" descr="pulse_coral.png">
                <a:extLst>
                  <a:ext uri="{FF2B5EF4-FFF2-40B4-BE49-F238E27FC236}">
                    <a16:creationId xmlns:a16="http://schemas.microsoft.com/office/drawing/2014/main" id="{145ACF3E-B591-C4CC-E844-1199D48A8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7552" y="18196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58AC66-10BE-5511-B516-2D500D16F536}"/>
                </a:ext>
              </a:extLst>
            </p:cNvPr>
            <p:cNvSpPr txBox="1"/>
            <p:nvPr/>
          </p:nvSpPr>
          <p:spPr>
            <a:xfrm>
              <a:off x="932688" y="2448800"/>
              <a:ext cx="4297680" cy="83869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2800" dirty="0"/>
                <a:t>Severe Metabolic Burden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EF4444"/>
                  </a:solidFill>
                </a:defRPr>
              </a:pPr>
              <a:r>
                <a:rPr sz="2400" dirty="0"/>
                <a:t>CHRONIC CRISIS</a:t>
              </a:r>
              <a:endParaRPr sz="28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7ACA616-3F16-883E-51D5-3CB6B913AFCA}"/>
              </a:ext>
            </a:extLst>
          </p:cNvPr>
          <p:cNvGrpSpPr/>
          <p:nvPr/>
        </p:nvGrpSpPr>
        <p:grpSpPr>
          <a:xfrm>
            <a:off x="6217920" y="1600200"/>
            <a:ext cx="5212080" cy="2286000"/>
            <a:chOff x="6217920" y="1600200"/>
            <a:chExt cx="5212080" cy="228600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C0F342B-300B-9870-A4A4-DE916B83FA1B}"/>
                </a:ext>
              </a:extLst>
            </p:cNvPr>
            <p:cNvSpPr/>
            <p:nvPr/>
          </p:nvSpPr>
          <p:spPr>
            <a:xfrm>
              <a:off x="6217920" y="1600200"/>
              <a:ext cx="5212080" cy="2286000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891D7ED-0EE5-146C-363D-2630C629DE5C}"/>
                </a:ext>
              </a:extLst>
            </p:cNvPr>
            <p:cNvGrpSpPr/>
            <p:nvPr/>
          </p:nvGrpSpPr>
          <p:grpSpPr>
            <a:xfrm>
              <a:off x="6419088" y="1764792"/>
              <a:ext cx="438912" cy="438912"/>
              <a:chOff x="6419088" y="1764792"/>
              <a:chExt cx="438912" cy="438912"/>
            </a:xfrm>
          </p:grpSpPr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DA8F02F0-BCA6-57F7-D71A-BF3AEBEB6DEF}"/>
                  </a:ext>
                </a:extLst>
              </p:cNvPr>
              <p:cNvSpPr/>
              <p:nvPr/>
            </p:nvSpPr>
            <p:spPr>
              <a:xfrm>
                <a:off x="6419088" y="1764792"/>
                <a:ext cx="438912" cy="438912"/>
              </a:xfrm>
              <a:prstGeom prst="roundRect">
                <a:avLst/>
              </a:prstGeom>
              <a:solidFill>
                <a:srgbClr val="382C14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1" name="Picture 10" descr="food_amber.png">
                <a:extLst>
                  <a:ext uri="{FF2B5EF4-FFF2-40B4-BE49-F238E27FC236}">
                    <a16:creationId xmlns:a16="http://schemas.microsoft.com/office/drawing/2014/main" id="{AD91C482-C6F2-BCDB-9048-EF097E1E0A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3952" y="18196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6EAB49E-1305-3FB3-D185-36E8893BFB66}"/>
                </a:ext>
              </a:extLst>
            </p:cNvPr>
            <p:cNvSpPr txBox="1"/>
            <p:nvPr/>
          </p:nvSpPr>
          <p:spPr>
            <a:xfrm>
              <a:off x="6419087" y="2448800"/>
              <a:ext cx="4698855" cy="13208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2800" dirty="0"/>
                <a:t>Composite Cooking Blindspot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F59E0B"/>
                  </a:solidFill>
                </a:defRPr>
              </a:pPr>
              <a:r>
                <a:rPr sz="2400" dirty="0"/>
                <a:t>DIET MISMATCH</a:t>
              </a:r>
              <a:endParaRPr sz="2800" dirty="0"/>
            </a:p>
            <a:p>
              <a:pPr>
                <a:defRPr sz="1100">
                  <a:solidFill>
                    <a:srgbClr val="94A3B8"/>
                  </a:solidFill>
                </a:defRPr>
              </a:pPr>
              <a:endParaRPr sz="28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4F546BA-8038-63C7-9A02-3E607A0653CA}"/>
              </a:ext>
            </a:extLst>
          </p:cNvPr>
          <p:cNvGrpSpPr/>
          <p:nvPr/>
        </p:nvGrpSpPr>
        <p:grpSpPr>
          <a:xfrm>
            <a:off x="731520" y="4114800"/>
            <a:ext cx="5212080" cy="2286000"/>
            <a:chOff x="731520" y="4114800"/>
            <a:chExt cx="5212080" cy="2286000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CBA51A44-13C2-F9A2-5EF1-00F5257BA0CF}"/>
                </a:ext>
              </a:extLst>
            </p:cNvPr>
            <p:cNvSpPr/>
            <p:nvPr/>
          </p:nvSpPr>
          <p:spPr>
            <a:xfrm>
              <a:off x="731520" y="4114800"/>
              <a:ext cx="5212080" cy="2286000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9DB8DEF-EBAE-0A1E-967C-E592CE3C1863}"/>
                </a:ext>
              </a:extLst>
            </p:cNvPr>
            <p:cNvGrpSpPr/>
            <p:nvPr/>
          </p:nvGrpSpPr>
          <p:grpSpPr>
            <a:xfrm>
              <a:off x="932688" y="4279392"/>
              <a:ext cx="438912" cy="438912"/>
              <a:chOff x="932688" y="4279392"/>
              <a:chExt cx="438912" cy="438912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B3B5F7C-FE6D-B53C-35F3-0172B137441F}"/>
                  </a:ext>
                </a:extLst>
              </p:cNvPr>
              <p:cNvSpPr/>
              <p:nvPr/>
            </p:nvSpPr>
            <p:spPr>
              <a:xfrm>
                <a:off x="932688" y="4279392"/>
                <a:ext cx="438912" cy="438912"/>
              </a:xfrm>
              <a:prstGeom prst="roundRect">
                <a:avLst/>
              </a:prstGeom>
              <a:solidFill>
                <a:srgbClr val="3B4A1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accent3">
                      <a:lumMod val="50000"/>
                    </a:schemeClr>
                  </a:solidFill>
                </a:endParaRPr>
              </a:p>
            </p:txBody>
          </p:sp>
          <p:pic>
            <p:nvPicPr>
              <p:cNvPr id="15" name="Picture 14" descr="warning_coral.png">
                <a:extLst>
                  <a:ext uri="{FF2B5EF4-FFF2-40B4-BE49-F238E27FC236}">
                    <a16:creationId xmlns:a16="http://schemas.microsoft.com/office/drawing/2014/main" id="{0FBA76CA-5D63-5977-12E7-51FBEFD06C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duotone>
                  <a:prstClr val="black"/>
                  <a:schemeClr val="accent3">
                    <a:tint val="45000"/>
                    <a:satMod val="400000"/>
                  </a:schemeClr>
                </a:duotone>
              </a:blip>
              <a:stretch>
                <a:fillRect/>
              </a:stretch>
            </p:blipFill>
            <p:spPr>
              <a:xfrm>
                <a:off x="987552" y="43342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206E35A-BFE1-C8C9-8138-301AA0160642}"/>
                </a:ext>
              </a:extLst>
            </p:cNvPr>
            <p:cNvSpPr txBox="1"/>
            <p:nvPr/>
          </p:nvSpPr>
          <p:spPr>
            <a:xfrm>
              <a:off x="932688" y="4970607"/>
              <a:ext cx="4297680" cy="83869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2800" dirty="0"/>
                <a:t>Hazardous Generic AI Advice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EF4444"/>
                  </a:solidFill>
                </a:defRPr>
              </a:pPr>
              <a:r>
                <a:rPr sz="2400" dirty="0">
                  <a:solidFill>
                    <a:schemeClr val="accent3">
                      <a:lumMod val="75000"/>
                    </a:schemeClr>
                  </a:solidFill>
                </a:rPr>
                <a:t>SAFETY HAZARD</a:t>
              </a:r>
              <a:endParaRPr sz="2800" dirty="0">
                <a:solidFill>
                  <a:schemeClr val="accent3">
                    <a:lumMod val="75000"/>
                  </a:schemeClr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524D6B-ACF1-08ED-A02E-946471B8671D}"/>
              </a:ext>
            </a:extLst>
          </p:cNvPr>
          <p:cNvGrpSpPr/>
          <p:nvPr/>
        </p:nvGrpSpPr>
        <p:grpSpPr>
          <a:xfrm>
            <a:off x="6217920" y="4114800"/>
            <a:ext cx="5212080" cy="2286000"/>
            <a:chOff x="6217920" y="4114800"/>
            <a:chExt cx="5212080" cy="2286000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75FB7331-56DC-011E-D109-CCE1E4183EEC}"/>
                </a:ext>
              </a:extLst>
            </p:cNvPr>
            <p:cNvSpPr/>
            <p:nvPr/>
          </p:nvSpPr>
          <p:spPr>
            <a:xfrm>
              <a:off x="6217920" y="4114800"/>
              <a:ext cx="5212080" cy="2286000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06B6D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8DB1103-A0E6-04A0-378C-7CDB19C6FDA6}"/>
                </a:ext>
              </a:extLst>
            </p:cNvPr>
            <p:cNvGrpSpPr/>
            <p:nvPr/>
          </p:nvGrpSpPr>
          <p:grpSpPr>
            <a:xfrm>
              <a:off x="6419088" y="4279392"/>
              <a:ext cx="438912" cy="438912"/>
              <a:chOff x="6419088" y="4279392"/>
              <a:chExt cx="438912" cy="438912"/>
            </a:xfrm>
          </p:grpSpPr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AEFA0C18-8A7F-2CB3-258D-D96B21B6EADE}"/>
                  </a:ext>
                </a:extLst>
              </p:cNvPr>
              <p:cNvSpPr/>
              <p:nvPr/>
            </p:nvSpPr>
            <p:spPr>
              <a:xfrm>
                <a:off x="6419088" y="4279392"/>
                <a:ext cx="438912" cy="438912"/>
              </a:xfrm>
              <a:prstGeom prst="roundRect">
                <a:avLst/>
              </a:prstGeom>
              <a:solidFill>
                <a:srgbClr val="1030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9" name="Picture 18" descr="phone_cyan.png">
                <a:extLst>
                  <a:ext uri="{FF2B5EF4-FFF2-40B4-BE49-F238E27FC236}">
                    <a16:creationId xmlns:a16="http://schemas.microsoft.com/office/drawing/2014/main" id="{99D86FE5-E9B5-E213-1315-184418BCF4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73952" y="43342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0CE39D-1190-309B-C555-C6F84A56A63F}"/>
                </a:ext>
              </a:extLst>
            </p:cNvPr>
            <p:cNvSpPr txBox="1"/>
            <p:nvPr/>
          </p:nvSpPr>
          <p:spPr>
            <a:xfrm>
              <a:off x="6419088" y="4973610"/>
              <a:ext cx="4297680" cy="13208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2800" dirty="0"/>
                <a:t>Single-Device Family Reality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06B6D4"/>
                  </a:solidFill>
                </a:defRPr>
              </a:pPr>
              <a:r>
                <a:rPr sz="2400" dirty="0"/>
                <a:t>DEMOGRAPHIC GAP</a:t>
              </a:r>
              <a:endParaRPr sz="2800" dirty="0"/>
            </a:p>
            <a:p>
              <a:pPr>
                <a:defRPr sz="1100">
                  <a:solidFill>
                    <a:srgbClr val="94A3B8"/>
                  </a:solidFill>
                </a:defRPr>
              </a:pPr>
              <a:endParaRPr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65256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31284-FD70-4546-69ED-B56881457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3F879BE-C086-CF63-F652-DACD3B8DD3E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D967CD-3E75-BB18-4A88-4C34F3239E15}"/>
              </a:ext>
            </a:extLst>
          </p:cNvPr>
          <p:cNvSpPr txBox="1"/>
          <p:nvPr/>
        </p:nvSpPr>
        <p:spPr>
          <a:xfrm>
            <a:off x="682018" y="2644170"/>
            <a:ext cx="108276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OUR SOLUTION</a:t>
            </a:r>
          </a:p>
        </p:txBody>
      </p:sp>
    </p:spTree>
    <p:extLst>
      <p:ext uri="{BB962C8B-B14F-4D97-AF65-F5344CB8AC3E}">
        <p14:creationId xmlns:p14="http://schemas.microsoft.com/office/powerpoint/2010/main" val="2625074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 err="1">
                <a:solidFill>
                  <a:srgbClr val="00B050"/>
                </a:solidFill>
              </a:rPr>
              <a:t>NutriSense</a:t>
            </a:r>
            <a:r>
              <a:rPr sz="3200" dirty="0">
                <a:solidFill>
                  <a:srgbClr val="00B050"/>
                </a:solidFill>
              </a:rPr>
              <a:t>: </a:t>
            </a:r>
            <a:r>
              <a:rPr sz="3200" dirty="0">
                <a:solidFill>
                  <a:srgbClr val="00BCD4"/>
                </a:solidFill>
              </a:rPr>
              <a:t>Precision Health Built for Reality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4751F21-244D-1569-5D60-0A22D291E024}"/>
              </a:ext>
            </a:extLst>
          </p:cNvPr>
          <p:cNvGrpSpPr/>
          <p:nvPr/>
        </p:nvGrpSpPr>
        <p:grpSpPr>
          <a:xfrm>
            <a:off x="731520" y="2331852"/>
            <a:ext cx="10698480" cy="2884714"/>
            <a:chOff x="731520" y="1600200"/>
            <a:chExt cx="10698480" cy="288471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35D3728-58A1-4809-9350-CCB33C3023F7}"/>
                </a:ext>
              </a:extLst>
            </p:cNvPr>
            <p:cNvGrpSpPr/>
            <p:nvPr/>
          </p:nvGrpSpPr>
          <p:grpSpPr>
            <a:xfrm>
              <a:off x="731520" y="1600200"/>
              <a:ext cx="3383280" cy="2884714"/>
              <a:chOff x="731520" y="1600200"/>
              <a:chExt cx="3383280" cy="2884714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731520" y="1600200"/>
                <a:ext cx="3383280" cy="2884714"/>
              </a:xfrm>
              <a:prstGeom prst="roundRect">
                <a:avLst/>
              </a:prstGeom>
              <a:solidFill>
                <a:srgbClr val="162138"/>
              </a:solidFill>
              <a:ln w="15240">
                <a:solidFill>
                  <a:srgbClr val="10B98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B1BC6A5A-DE23-63D9-D29C-FEBE02547DF0}"/>
                  </a:ext>
                </a:extLst>
              </p:cNvPr>
              <p:cNvGrpSpPr/>
              <p:nvPr/>
            </p:nvGrpSpPr>
            <p:grpSpPr>
              <a:xfrm>
                <a:off x="987552" y="1911228"/>
                <a:ext cx="475488" cy="475488"/>
                <a:chOff x="932688" y="1764792"/>
                <a:chExt cx="475488" cy="475488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932688" y="1764792"/>
                  <a:ext cx="475488" cy="475488"/>
                </a:xfrm>
                <a:prstGeom prst="roundRect">
                  <a:avLst/>
                </a:prstGeom>
                <a:solidFill>
                  <a:srgbClr val="12323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pic>
              <p:nvPicPr>
                <p:cNvPr id="7" name="Picture 6" descr="camera_emerald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87552" y="1819656"/>
                  <a:ext cx="365760" cy="365760"/>
                </a:xfrm>
                <a:prstGeom prst="rect">
                  <a:avLst/>
                </a:prstGeom>
              </p:spPr>
            </p:pic>
          </p:grpSp>
          <p:sp>
            <p:nvSpPr>
              <p:cNvPr id="8" name="TextBox 7"/>
              <p:cNvSpPr txBox="1"/>
              <p:nvPr/>
            </p:nvSpPr>
            <p:spPr>
              <a:xfrm>
                <a:off x="987552" y="2425311"/>
                <a:ext cx="2980944" cy="139268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spcAft>
                    <a:spcPts val="300"/>
                  </a:spcAft>
                  <a:defRPr sz="1450" b="1">
                    <a:solidFill>
                      <a:srgbClr val="F8FAFC"/>
                    </a:solidFill>
                  </a:defRPr>
                </a:pPr>
                <a:r>
                  <a:rPr sz="2400" dirty="0"/>
                  <a:t>Cultural Multimodal Vision</a:t>
                </a:r>
              </a:p>
              <a:p>
                <a:pPr>
                  <a:spcAft>
                    <a:spcPts val="400"/>
                  </a:spcAft>
                  <a:defRPr sz="950" b="1">
                    <a:solidFill>
                      <a:srgbClr val="10B981"/>
                    </a:solidFill>
                  </a:defRPr>
                </a:pPr>
                <a:r>
                  <a:rPr sz="2000" dirty="0"/>
                  <a:t>[BARCODE SCANNER</a:t>
                </a:r>
                <a:r>
                  <a:rPr lang="en-US" sz="2000" dirty="0"/>
                  <a:t> FOR LOCAL FOOD ITEMS</a:t>
                </a:r>
                <a:r>
                  <a:rPr sz="2000" dirty="0"/>
                  <a:t>]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615C3C2-98A6-C8DE-E51F-3D7C1BBC4D2C}"/>
                </a:ext>
              </a:extLst>
            </p:cNvPr>
            <p:cNvGrpSpPr/>
            <p:nvPr/>
          </p:nvGrpSpPr>
          <p:grpSpPr>
            <a:xfrm>
              <a:off x="4389120" y="1600200"/>
              <a:ext cx="3383280" cy="2884714"/>
              <a:chOff x="4389120" y="1600200"/>
              <a:chExt cx="3383280" cy="2884714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4389120" y="1600200"/>
                <a:ext cx="3383280" cy="2884714"/>
              </a:xfrm>
              <a:prstGeom prst="roundRect">
                <a:avLst/>
              </a:prstGeom>
              <a:solidFill>
                <a:srgbClr val="162138"/>
              </a:solidFill>
              <a:ln w="15240">
                <a:solidFill>
                  <a:srgbClr val="EF444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5F5B29C2-5453-777B-556C-7B03B56144E4}"/>
                  </a:ext>
                </a:extLst>
              </p:cNvPr>
              <p:cNvGrpSpPr/>
              <p:nvPr/>
            </p:nvGrpSpPr>
            <p:grpSpPr>
              <a:xfrm>
                <a:off x="4645152" y="1856364"/>
                <a:ext cx="475488" cy="475488"/>
                <a:chOff x="4590288" y="1764792"/>
                <a:chExt cx="475488" cy="475488"/>
              </a:xfrm>
            </p:grpSpPr>
            <p:sp>
              <p:nvSpPr>
                <p:cNvPr id="10" name="Rounded Rectangle 9"/>
                <p:cNvSpPr/>
                <p:nvPr/>
              </p:nvSpPr>
              <p:spPr>
                <a:xfrm>
                  <a:off x="4590288" y="1764792"/>
                  <a:ext cx="475488" cy="475488"/>
                </a:xfrm>
                <a:prstGeom prst="roundRect">
                  <a:avLst/>
                </a:prstGeom>
                <a:solidFill>
                  <a:srgbClr val="3A1C2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pic>
              <p:nvPicPr>
                <p:cNvPr id="11" name="Picture 10" descr="stethoscope_coral.png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645152" y="1819656"/>
                  <a:ext cx="365760" cy="365760"/>
                </a:xfrm>
                <a:prstGeom prst="rect">
                  <a:avLst/>
                </a:prstGeom>
              </p:spPr>
            </p:pic>
          </p:grpSp>
          <p:sp>
            <p:nvSpPr>
              <p:cNvPr id="12" name="TextBox 11"/>
              <p:cNvSpPr txBox="1"/>
              <p:nvPr/>
            </p:nvSpPr>
            <p:spPr>
              <a:xfrm>
                <a:off x="4645152" y="2425311"/>
                <a:ext cx="2980944" cy="139268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spcAft>
                    <a:spcPts val="300"/>
                  </a:spcAft>
                  <a:defRPr sz="1450" b="1">
                    <a:solidFill>
                      <a:srgbClr val="F8FAFC"/>
                    </a:solidFill>
                  </a:defRPr>
                </a:pPr>
                <a:r>
                  <a:rPr sz="2400" dirty="0"/>
                  <a:t>3-Step Clinical RAG Guard</a:t>
                </a:r>
              </a:p>
              <a:p>
                <a:pPr>
                  <a:spcAft>
                    <a:spcPts val="400"/>
                  </a:spcAft>
                  <a:defRPr sz="950" b="1">
                    <a:solidFill>
                      <a:srgbClr val="EF4444"/>
                    </a:solidFill>
                  </a:defRPr>
                </a:pPr>
                <a:r>
                  <a:rPr sz="2000" dirty="0"/>
                  <a:t>[SUB-SECOND SAFETY CHECK]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A09683A-A693-8B77-115C-542DE3BAC125}"/>
                </a:ext>
              </a:extLst>
            </p:cNvPr>
            <p:cNvGrpSpPr/>
            <p:nvPr/>
          </p:nvGrpSpPr>
          <p:grpSpPr>
            <a:xfrm>
              <a:off x="8046720" y="1600200"/>
              <a:ext cx="3383280" cy="2884714"/>
              <a:chOff x="8046720" y="1600200"/>
              <a:chExt cx="3383280" cy="2884714"/>
            </a:xfrm>
          </p:grpSpPr>
          <p:sp>
            <p:nvSpPr>
              <p:cNvPr id="13" name="Rounded Rectangle 12"/>
              <p:cNvSpPr/>
              <p:nvPr/>
            </p:nvSpPr>
            <p:spPr>
              <a:xfrm>
                <a:off x="8046720" y="1600200"/>
                <a:ext cx="3383280" cy="2884714"/>
              </a:xfrm>
              <a:prstGeom prst="roundRect">
                <a:avLst/>
              </a:prstGeom>
              <a:solidFill>
                <a:srgbClr val="162138"/>
              </a:solidFill>
              <a:ln w="15240">
                <a:solidFill>
                  <a:srgbClr val="06B6D4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65E6E7D-5222-4F56-0D88-7DC2ADDDECB5}"/>
                  </a:ext>
                </a:extLst>
              </p:cNvPr>
              <p:cNvGrpSpPr/>
              <p:nvPr/>
            </p:nvGrpSpPr>
            <p:grpSpPr>
              <a:xfrm>
                <a:off x="8302752" y="1911228"/>
                <a:ext cx="475488" cy="475488"/>
                <a:chOff x="8247888" y="1764792"/>
                <a:chExt cx="475488" cy="475488"/>
              </a:xfrm>
            </p:grpSpPr>
            <p:sp>
              <p:nvSpPr>
                <p:cNvPr id="14" name="Rounded Rectangle 13"/>
                <p:cNvSpPr/>
                <p:nvPr/>
              </p:nvSpPr>
              <p:spPr>
                <a:xfrm>
                  <a:off x="8247888" y="1764792"/>
                  <a:ext cx="475488" cy="475488"/>
                </a:xfrm>
                <a:prstGeom prst="roundRect">
                  <a:avLst/>
                </a:prstGeom>
                <a:solidFill>
                  <a:srgbClr val="103040"/>
                </a:solidFill>
                <a:ln>
                  <a:noFill/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pic>
              <p:nvPicPr>
                <p:cNvPr id="15" name="Picture 14" descr="users_cyan.png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302752" y="1819656"/>
                  <a:ext cx="365760" cy="365760"/>
                </a:xfrm>
                <a:prstGeom prst="rect">
                  <a:avLst/>
                </a:prstGeom>
              </p:spPr>
            </p:pic>
          </p:grpSp>
          <p:sp>
            <p:nvSpPr>
              <p:cNvPr id="16" name="TextBox 15"/>
              <p:cNvSpPr txBox="1"/>
              <p:nvPr/>
            </p:nvSpPr>
            <p:spPr>
              <a:xfrm>
                <a:off x="8302752" y="2425311"/>
                <a:ext cx="2980944" cy="139268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>
                  <a:spcAft>
                    <a:spcPts val="300"/>
                  </a:spcAft>
                  <a:defRPr sz="1450" b="1">
                    <a:solidFill>
                      <a:srgbClr val="F8FAFC"/>
                    </a:solidFill>
                  </a:defRPr>
                </a:pPr>
                <a:r>
                  <a:rPr sz="2400" dirty="0"/>
                  <a:t>Family &amp; Regional Inclusion</a:t>
                </a:r>
              </a:p>
              <a:p>
                <a:pPr>
                  <a:spcAft>
                    <a:spcPts val="400"/>
                  </a:spcAft>
                  <a:defRPr sz="950" b="1">
                    <a:solidFill>
                      <a:srgbClr val="06B6D4"/>
                    </a:solidFill>
                  </a:defRPr>
                </a:pPr>
                <a:r>
                  <a:rPr sz="2000" dirty="0"/>
                  <a:t>[URDU VOICE &amp; OFFLINE SYNC]</a:t>
                </a: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0AF46-A879-B951-D063-89526DDF3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513B73-948E-49BB-65FA-AB68ADBF327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EE65AF-9920-5041-906F-18C98EE92009}"/>
              </a:ext>
            </a:extLst>
          </p:cNvPr>
          <p:cNvSpPr txBox="1"/>
          <p:nvPr/>
        </p:nvSpPr>
        <p:spPr>
          <a:xfrm>
            <a:off x="682018" y="2644170"/>
            <a:ext cx="108276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718992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Multimodal Plate Scanning &amp; Dynamic Portions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EAA5DF-9AD2-DDD1-6796-0361AC660632}"/>
              </a:ext>
            </a:extLst>
          </p:cNvPr>
          <p:cNvGrpSpPr/>
          <p:nvPr/>
        </p:nvGrpSpPr>
        <p:grpSpPr>
          <a:xfrm>
            <a:off x="932688" y="1764792"/>
            <a:ext cx="438912" cy="438912"/>
            <a:chOff x="932688" y="1764792"/>
            <a:chExt cx="438912" cy="438912"/>
          </a:xfrm>
        </p:grpSpPr>
        <p:sp>
          <p:nvSpPr>
            <p:cNvPr id="6" name="Rounded Rectangle 5"/>
            <p:cNvSpPr/>
            <p:nvPr/>
          </p:nvSpPr>
          <p:spPr>
            <a:xfrm>
              <a:off x="932688" y="1764792"/>
              <a:ext cx="438912" cy="438912"/>
            </a:xfrm>
            <a:prstGeom prst="roundRect">
              <a:avLst/>
            </a:prstGeom>
            <a:solidFill>
              <a:srgbClr val="382C1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icture 6" descr="food_amber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7552" y="1819656"/>
              <a:ext cx="329184" cy="329184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/>
        </p:nvSpPr>
        <p:spPr>
          <a:xfrm>
            <a:off x="987552" y="2392994"/>
            <a:ext cx="4297680" cy="700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400" dirty="0"/>
              <a:t>Composite Food Decomposition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1900" dirty="0"/>
              <a:t>[</a:t>
            </a:r>
            <a:r>
              <a:rPr lang="en-US" sz="1900" dirty="0"/>
              <a:t>GEMINI 2.5/3.7 VISION</a:t>
            </a:r>
            <a:r>
              <a:rPr sz="1900" dirty="0"/>
              <a:t>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268D5B5-6B02-8BB6-85BF-E15736420912}"/>
              </a:ext>
            </a:extLst>
          </p:cNvPr>
          <p:cNvGrpSpPr/>
          <p:nvPr/>
        </p:nvGrpSpPr>
        <p:grpSpPr>
          <a:xfrm>
            <a:off x="6419088" y="1764792"/>
            <a:ext cx="438912" cy="438912"/>
            <a:chOff x="6419088" y="1764792"/>
            <a:chExt cx="438912" cy="438912"/>
          </a:xfrm>
        </p:grpSpPr>
        <p:sp>
          <p:nvSpPr>
            <p:cNvPr id="10" name="Rounded Rectangle 9"/>
            <p:cNvSpPr/>
            <p:nvPr/>
          </p:nvSpPr>
          <p:spPr>
            <a:xfrm>
              <a:off x="6419088" y="1764792"/>
              <a:ext cx="438912" cy="438912"/>
            </a:xfrm>
            <a:prstGeom prst="roundRect">
              <a:avLst/>
            </a:prstGeom>
            <a:solidFill>
              <a:srgbClr val="1030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1" name="Picture 10" descr="sliders_cya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3952" y="1819656"/>
              <a:ext cx="329184" cy="329184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/>
        </p:nvSpPr>
        <p:spPr>
          <a:xfrm>
            <a:off x="6473952" y="2356974"/>
            <a:ext cx="4297680" cy="9207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400" dirty="0"/>
              <a:t>Live 1-Tap Portion Modifiers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rPr sz="1900" dirty="0"/>
              <a:t>[ZERO FRICTION UI]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6B243AD-E9E7-47E1-5D02-E1340D0A8DDC}"/>
              </a:ext>
            </a:extLst>
          </p:cNvPr>
          <p:cNvGrpSpPr/>
          <p:nvPr/>
        </p:nvGrpSpPr>
        <p:grpSpPr>
          <a:xfrm>
            <a:off x="932688" y="4279392"/>
            <a:ext cx="438912" cy="438912"/>
            <a:chOff x="932688" y="4279392"/>
            <a:chExt cx="438912" cy="438912"/>
          </a:xfrm>
        </p:grpSpPr>
        <p:sp>
          <p:nvSpPr>
            <p:cNvPr id="14" name="Rounded Rectangle 13"/>
            <p:cNvSpPr/>
            <p:nvPr/>
          </p:nvSpPr>
          <p:spPr>
            <a:xfrm>
              <a:off x="932688" y="4279392"/>
              <a:ext cx="438912" cy="438912"/>
            </a:xfrm>
            <a:prstGeom prst="roundRect">
              <a:avLst/>
            </a:prstGeom>
            <a:solidFill>
              <a:srgbClr val="382C1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" name="Picture 14" descr="barcode_amb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7552" y="4334256"/>
              <a:ext cx="329184" cy="329184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/>
        </p:nvSpPr>
        <p:spPr>
          <a:xfrm>
            <a:off x="944880" y="4856915"/>
            <a:ext cx="4297680" cy="10695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400" dirty="0"/>
              <a:t>Barcode &amp; Medical Allergen Check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rPr sz="1900" dirty="0"/>
              <a:t>[ALLERGEN &amp; SODIUM FLAGS]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A012295-2693-2100-B144-15939700F1E9}"/>
              </a:ext>
            </a:extLst>
          </p:cNvPr>
          <p:cNvGrpSpPr/>
          <p:nvPr/>
        </p:nvGrpSpPr>
        <p:grpSpPr>
          <a:xfrm>
            <a:off x="6419088" y="4279392"/>
            <a:ext cx="438912" cy="438912"/>
            <a:chOff x="6419088" y="4279392"/>
            <a:chExt cx="438912" cy="438912"/>
          </a:xfrm>
        </p:grpSpPr>
        <p:sp>
          <p:nvSpPr>
            <p:cNvPr id="18" name="Rounded Rectangle 17"/>
            <p:cNvSpPr/>
            <p:nvPr/>
          </p:nvSpPr>
          <p:spPr>
            <a:xfrm>
              <a:off x="6419088" y="4279392"/>
              <a:ext cx="438912" cy="438912"/>
            </a:xfrm>
            <a:prstGeom prst="roundRect">
              <a:avLst/>
            </a:prstGeom>
            <a:solidFill>
              <a:srgbClr val="1232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9" name="Picture 18" descr="chat_emeral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73952" y="4334256"/>
              <a:ext cx="329184" cy="329184"/>
            </a:xfrm>
            <a:prstGeom prst="rect">
              <a:avLst/>
            </a:prstGeom>
          </p:spPr>
        </p:pic>
      </p:grpSp>
      <p:sp>
        <p:nvSpPr>
          <p:cNvPr id="20" name="TextBox 19"/>
          <p:cNvSpPr txBox="1"/>
          <p:nvPr/>
        </p:nvSpPr>
        <p:spPr>
          <a:xfrm>
            <a:off x="6473952" y="4854593"/>
            <a:ext cx="4297680" cy="700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400" dirty="0"/>
              <a:t>Natural Language Meal Logger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1900" dirty="0"/>
              <a:t>[SANITIZED NLP PIPELINE]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3-Step Clinical RAG &amp; Hypoglycemia Interceptor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5212080" cy="2653211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B1371F1-ABFD-4274-DFD5-C207130B70B3}"/>
              </a:ext>
            </a:extLst>
          </p:cNvPr>
          <p:cNvGrpSpPr/>
          <p:nvPr/>
        </p:nvGrpSpPr>
        <p:grpSpPr>
          <a:xfrm>
            <a:off x="961716" y="3346122"/>
            <a:ext cx="438912" cy="438912"/>
            <a:chOff x="932688" y="3273552"/>
            <a:chExt cx="438912" cy="438912"/>
          </a:xfrm>
        </p:grpSpPr>
        <p:sp>
          <p:nvSpPr>
            <p:cNvPr id="8" name="Rounded Rectangle 7"/>
            <p:cNvSpPr/>
            <p:nvPr/>
          </p:nvSpPr>
          <p:spPr>
            <a:xfrm>
              <a:off x="932688" y="3273552"/>
              <a:ext cx="438912" cy="438912"/>
            </a:xfrm>
            <a:prstGeom prst="roundRect">
              <a:avLst/>
            </a:prstGeom>
            <a:solidFill>
              <a:srgbClr val="3A1C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9" name="Picture 8" descr="zap_coral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7552" y="3328415"/>
              <a:ext cx="329184" cy="329184"/>
            </a:xfrm>
            <a:prstGeom prst="rect">
              <a:avLst/>
            </a:prstGeom>
          </p:spPr>
        </p:pic>
      </p:grpSp>
      <p:sp>
        <p:nvSpPr>
          <p:cNvPr id="10" name="TextBox 9"/>
          <p:cNvSpPr txBox="1"/>
          <p:nvPr/>
        </p:nvSpPr>
        <p:spPr>
          <a:xfrm>
            <a:off x="961716" y="4008410"/>
            <a:ext cx="4297680" cy="12080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800" dirty="0"/>
              <a:t>Sub-50ms Hypoglycemia Interceptor</a:t>
            </a:r>
          </a:p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</a:defRPr>
            </a:pPr>
            <a:r>
              <a:rPr sz="2000" dirty="0"/>
              <a:t>[EMERGENCY PROTOCOL]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108960"/>
            <a:ext cx="5212080" cy="2653211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CE32560-8EF3-225B-ACF7-034E727EBA2A}"/>
              </a:ext>
            </a:extLst>
          </p:cNvPr>
          <p:cNvGrpSpPr/>
          <p:nvPr/>
        </p:nvGrpSpPr>
        <p:grpSpPr>
          <a:xfrm>
            <a:off x="6455664" y="3400985"/>
            <a:ext cx="438912" cy="438912"/>
            <a:chOff x="6419088" y="3273552"/>
            <a:chExt cx="438912" cy="438912"/>
          </a:xfrm>
        </p:grpSpPr>
        <p:sp>
          <p:nvSpPr>
            <p:cNvPr id="12" name="Rounded Rectangle 11"/>
            <p:cNvSpPr/>
            <p:nvPr/>
          </p:nvSpPr>
          <p:spPr>
            <a:xfrm>
              <a:off x="6419088" y="3273552"/>
              <a:ext cx="438912" cy="438912"/>
            </a:xfrm>
            <a:prstGeom prst="roundRect">
              <a:avLst/>
            </a:prstGeom>
            <a:solidFill>
              <a:srgbClr val="1232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3" name="Picture 12" descr="mappin_emeral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3952" y="3328415"/>
              <a:ext cx="329184" cy="329184"/>
            </a:xfrm>
            <a:prstGeom prst="rect">
              <a:avLst/>
            </a:prstGeom>
          </p:spPr>
        </p:pic>
      </p:grpSp>
      <p:sp>
        <p:nvSpPr>
          <p:cNvPr id="14" name="TextBox 13"/>
          <p:cNvSpPr txBox="1"/>
          <p:nvPr/>
        </p:nvSpPr>
        <p:spPr>
          <a:xfrm>
            <a:off x="6455664" y="4015087"/>
            <a:ext cx="4297680" cy="12080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800" dirty="0"/>
              <a:t>Integrated Emergency Care Locator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2000" dirty="0"/>
              <a:t>[GPS CARE LOCATOR]</a:t>
            </a: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8FB52D73-0797-5DFA-B71B-2E1D4FBEF3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1701629"/>
              </p:ext>
            </p:extLst>
          </p:nvPr>
        </p:nvGraphicFramePr>
        <p:xfrm>
          <a:off x="2031847" y="1023038"/>
          <a:ext cx="8128000" cy="2214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Ramadan Fasting Suite &amp; Clinical Workouts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92380E-976B-BA58-7E72-F6927FE78100}"/>
              </a:ext>
            </a:extLst>
          </p:cNvPr>
          <p:cNvGrpSpPr/>
          <p:nvPr/>
        </p:nvGrpSpPr>
        <p:grpSpPr>
          <a:xfrm>
            <a:off x="731520" y="2006600"/>
            <a:ext cx="10698480" cy="3334657"/>
            <a:chOff x="731520" y="1600200"/>
            <a:chExt cx="10698480" cy="3334657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00200"/>
              <a:ext cx="5212080" cy="3334657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06B6D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E6E9540-DE53-4C85-3FAF-B3E2D82E178F}"/>
                </a:ext>
              </a:extLst>
            </p:cNvPr>
            <p:cNvGrpSpPr/>
            <p:nvPr/>
          </p:nvGrpSpPr>
          <p:grpSpPr>
            <a:xfrm>
              <a:off x="1143000" y="1929384"/>
              <a:ext cx="438912" cy="438912"/>
              <a:chOff x="932688" y="1764792"/>
              <a:chExt cx="438912" cy="438912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932688" y="1764792"/>
                <a:ext cx="438912" cy="438912"/>
              </a:xfrm>
              <a:prstGeom prst="roundRect">
                <a:avLst/>
              </a:prstGeom>
              <a:solidFill>
                <a:srgbClr val="1030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7" name="Picture 6" descr="moon_cya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87552" y="18196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8" name="TextBox 7"/>
            <p:cNvSpPr txBox="1"/>
            <p:nvPr/>
          </p:nvSpPr>
          <p:spPr>
            <a:xfrm>
              <a:off x="1143000" y="2697480"/>
              <a:ext cx="4297680" cy="83869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3200" dirty="0"/>
                <a:t>Ramadan Fasting Engine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06B6D4"/>
                  </a:solidFill>
                </a:defRPr>
              </a:pPr>
              <a:r>
                <a:rPr sz="2000" dirty="0"/>
                <a:t>[RAMADAN SUITE]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17920" y="1600200"/>
              <a:ext cx="5212080" cy="3334657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10B98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6E21837-C124-8524-7E1F-7D85F633A4F9}"/>
                </a:ext>
              </a:extLst>
            </p:cNvPr>
            <p:cNvGrpSpPr/>
            <p:nvPr/>
          </p:nvGrpSpPr>
          <p:grpSpPr>
            <a:xfrm>
              <a:off x="6592824" y="1929384"/>
              <a:ext cx="438912" cy="438912"/>
              <a:chOff x="6419088" y="1764792"/>
              <a:chExt cx="438912" cy="438912"/>
            </a:xfrm>
          </p:grpSpPr>
          <p:sp>
            <p:nvSpPr>
              <p:cNvPr id="10" name="Rounded Rectangle 9"/>
              <p:cNvSpPr/>
              <p:nvPr/>
            </p:nvSpPr>
            <p:spPr>
              <a:xfrm>
                <a:off x="6419088" y="1764792"/>
                <a:ext cx="438912" cy="438912"/>
              </a:xfrm>
              <a:prstGeom prst="roundRect">
                <a:avLst/>
              </a:prstGeom>
              <a:solidFill>
                <a:srgbClr val="12323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1" name="Picture 10" descr="dumbbell_emerald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73952" y="1819656"/>
                <a:ext cx="329184" cy="329184"/>
              </a:xfrm>
              <a:prstGeom prst="rect">
                <a:avLst/>
              </a:prstGeom>
            </p:spPr>
          </p:pic>
        </p:grpSp>
        <p:sp>
          <p:nvSpPr>
            <p:cNvPr id="12" name="TextBox 11"/>
            <p:cNvSpPr txBox="1"/>
            <p:nvPr/>
          </p:nvSpPr>
          <p:spPr>
            <a:xfrm>
              <a:off x="6592824" y="2677015"/>
              <a:ext cx="4297680" cy="13311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sz="3200" dirty="0"/>
                <a:t>Personalized Condition-Aware Workouts</a:t>
              </a:r>
            </a:p>
            <a:p>
              <a:pPr>
                <a:spcAft>
                  <a:spcPts val="400"/>
                </a:spcAft>
                <a:defRPr sz="950" b="1">
                  <a:solidFill>
                    <a:srgbClr val="10B981"/>
                  </a:solidFill>
                </a:defRPr>
              </a:pPr>
              <a:r>
                <a:rPr sz="2000" dirty="0"/>
                <a:t>[CLINICAL EXERCISE]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Family Profiles &amp; Urdu Voice Inclusion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30175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D21A11-B853-7F9B-7865-777B46137608}"/>
              </a:ext>
            </a:extLst>
          </p:cNvPr>
          <p:cNvGrpSpPr/>
          <p:nvPr/>
        </p:nvGrpSpPr>
        <p:grpSpPr>
          <a:xfrm>
            <a:off x="1024128" y="1929384"/>
            <a:ext cx="438912" cy="438912"/>
            <a:chOff x="932688" y="1764792"/>
            <a:chExt cx="438912" cy="438912"/>
          </a:xfrm>
        </p:grpSpPr>
        <p:sp>
          <p:nvSpPr>
            <p:cNvPr id="6" name="Rounded Rectangle 5"/>
            <p:cNvSpPr/>
            <p:nvPr/>
          </p:nvSpPr>
          <p:spPr>
            <a:xfrm>
              <a:off x="932688" y="1764792"/>
              <a:ext cx="438912" cy="438912"/>
            </a:xfrm>
            <a:prstGeom prst="roundRect">
              <a:avLst/>
            </a:prstGeom>
            <a:solidFill>
              <a:srgbClr val="12323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7" name="Picture 6" descr="users_emerald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87552" y="1819656"/>
              <a:ext cx="329184" cy="329184"/>
            </a:xfrm>
            <a:prstGeom prst="rect">
              <a:avLst/>
            </a:prstGeom>
          </p:spPr>
        </p:pic>
      </p:grpSp>
      <p:sp>
        <p:nvSpPr>
          <p:cNvPr id="8" name="TextBox 7"/>
          <p:cNvSpPr txBox="1"/>
          <p:nvPr/>
        </p:nvSpPr>
        <p:spPr>
          <a:xfrm>
            <a:off x="1078992" y="2558579"/>
            <a:ext cx="4297680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3200" dirty="0"/>
              <a:t>1-Tap Dependent Switcher)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2400" dirty="0"/>
              <a:t>[[Me] [A</a:t>
            </a:r>
            <a:r>
              <a:rPr lang="en-US" sz="2400" dirty="0"/>
              <a:t>li</a:t>
            </a:r>
            <a:r>
              <a:rPr sz="2400" dirty="0"/>
              <a:t>] [Abu]]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12080" cy="301752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A85C5E-4655-6FA2-333B-5FF3727DAB3D}"/>
              </a:ext>
            </a:extLst>
          </p:cNvPr>
          <p:cNvGrpSpPr/>
          <p:nvPr/>
        </p:nvGrpSpPr>
        <p:grpSpPr>
          <a:xfrm>
            <a:off x="6473952" y="1878702"/>
            <a:ext cx="438912" cy="438912"/>
            <a:chOff x="6419088" y="1764792"/>
            <a:chExt cx="438912" cy="438912"/>
          </a:xfrm>
        </p:grpSpPr>
        <p:sp>
          <p:nvSpPr>
            <p:cNvPr id="10" name="Rounded Rectangle 9"/>
            <p:cNvSpPr/>
            <p:nvPr/>
          </p:nvSpPr>
          <p:spPr>
            <a:xfrm>
              <a:off x="6419088" y="1764792"/>
              <a:ext cx="438912" cy="438912"/>
            </a:xfrm>
            <a:prstGeom prst="roundRect">
              <a:avLst/>
            </a:prstGeom>
            <a:solidFill>
              <a:srgbClr val="1030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1" name="Picture 10" descr="mic_cyan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3952" y="1819656"/>
              <a:ext cx="329184" cy="329184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/>
        </p:nvSpPr>
        <p:spPr>
          <a:xfrm>
            <a:off x="6528816" y="2558579"/>
            <a:ext cx="4297680" cy="13926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3200" dirty="0"/>
              <a:t>Neural Urdu Voice &amp; </a:t>
            </a:r>
            <a:r>
              <a:rPr sz="3200" dirty="0" err="1"/>
              <a:t>Nastaleeq</a:t>
            </a:r>
            <a:endParaRPr sz="3200" dirty="0"/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rPr sz="2400" dirty="0"/>
              <a:t>[URDU VOICE TTS]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EF1287-72A3-E69E-C670-E79AABDCC742}"/>
              </a:ext>
            </a:extLst>
          </p:cNvPr>
          <p:cNvGrpSpPr/>
          <p:nvPr/>
        </p:nvGrpSpPr>
        <p:grpSpPr>
          <a:xfrm>
            <a:off x="932688" y="5071582"/>
            <a:ext cx="438912" cy="438912"/>
            <a:chOff x="932688" y="5010912"/>
            <a:chExt cx="438912" cy="438912"/>
          </a:xfrm>
        </p:grpSpPr>
        <p:sp>
          <p:nvSpPr>
            <p:cNvPr id="14" name="Rounded Rectangle 13"/>
            <p:cNvSpPr/>
            <p:nvPr/>
          </p:nvSpPr>
          <p:spPr>
            <a:xfrm>
              <a:off x="932688" y="5010912"/>
              <a:ext cx="438912" cy="438912"/>
            </a:xfrm>
            <a:prstGeom prst="roundRect">
              <a:avLst/>
            </a:prstGeom>
            <a:solidFill>
              <a:srgbClr val="382C1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" name="Picture 14" descr="database_amber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7552" y="5065776"/>
              <a:ext cx="329184" cy="329184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/>
        </p:nvSpPr>
        <p:spPr>
          <a:xfrm>
            <a:off x="1475232" y="5070445"/>
            <a:ext cx="9784080" cy="900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3200" dirty="0"/>
              <a:t>Offline-First SQLite Sync with UUID v4 Idempotency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rPr sz="2400" dirty="0"/>
              <a:t>[OFFLINE RELIABILITY]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90A0A-B94B-1461-F434-8D25E90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08A927-618D-2EC9-8130-B86B1E65A88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362580-D3BB-26E1-E7EC-2515B2F116C2}"/>
              </a:ext>
            </a:extLst>
          </p:cNvPr>
          <p:cNvSpPr txBox="1"/>
          <p:nvPr/>
        </p:nvSpPr>
        <p:spPr>
          <a:xfrm>
            <a:off x="682018" y="1905506"/>
            <a:ext cx="1082765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SOFTWARE ARCHITECHTURE</a:t>
            </a:r>
          </a:p>
        </p:txBody>
      </p:sp>
    </p:spTree>
    <p:extLst>
      <p:ext uri="{BB962C8B-B14F-4D97-AF65-F5344CB8AC3E}">
        <p14:creationId xmlns:p14="http://schemas.microsoft.com/office/powerpoint/2010/main" val="301110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Technical Architecture &amp; Multi-Model Resilience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2688" y="1764792"/>
            <a:ext cx="438912" cy="438912"/>
          </a:xfrm>
          <a:prstGeom prst="roundRect">
            <a:avLst/>
          </a:prstGeom>
          <a:solidFill>
            <a:srgbClr val="123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rver_emera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19656"/>
            <a:ext cx="329184" cy="3291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87551" y="2270112"/>
            <a:ext cx="2895905" cy="13670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400" dirty="0"/>
              <a:t>FastAPI Backend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1700" dirty="0"/>
              <a:t>[FASTAPI + PYTHON 3.11]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rPr sz="1400" dirty="0"/>
              <a:t>Asynchronous Python backend with JWT LRU caching, </a:t>
            </a:r>
            <a:r>
              <a:rPr sz="1400" dirty="0" err="1"/>
              <a:t>Pydantic</a:t>
            </a:r>
            <a:r>
              <a:rPr sz="1400" dirty="0"/>
              <a:t> schemas, and structured clinical endpoints.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90288" y="176479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pu_cy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819656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45152" y="2258568"/>
            <a:ext cx="2887762" cy="15209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000" dirty="0"/>
              <a:t>Gemini Multi-Key Pool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rPr sz="1700" dirty="0"/>
              <a:t>[100% UPTIME POOL]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rPr sz="1400" dirty="0"/>
              <a:t>Auto-rotates across Gemini 2.5-Flash and 3.7-Flash with stateful 60s cooldowns—guaranteeing 0% rate-limit crashes during live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00200"/>
            <a:ext cx="3383280" cy="2468880"/>
          </a:xfrm>
          <a:prstGeom prst="roundRect">
            <a:avLst/>
          </a:prstGeom>
          <a:solidFill>
            <a:srgbClr val="162138"/>
          </a:solidFill>
          <a:ln w="1524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47888" y="176479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database_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819656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02751" y="2258568"/>
            <a:ext cx="2901697" cy="13054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000" dirty="0" err="1"/>
              <a:t>Supabase</a:t>
            </a:r>
            <a:r>
              <a:rPr sz="2000" dirty="0"/>
              <a:t> PostgreSQL</a:t>
            </a:r>
          </a:p>
          <a:p>
            <a:pPr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rPr lang="en-US" sz="1700" dirty="0"/>
              <a:t>[POSTGRESQL + RLS]</a:t>
            </a:r>
            <a:endParaRPr sz="1700" dirty="0"/>
          </a:p>
          <a:p>
            <a:pPr>
              <a:defRPr sz="1100">
                <a:solidFill>
                  <a:srgbClr val="94A3B8"/>
                </a:solidFill>
              </a:defRPr>
            </a:pPr>
            <a:r>
              <a:rPr sz="1400" dirty="0"/>
              <a:t>Row Level Security (RLS) policies guaranteeing strict patient data isolation across family profiles and logs.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32688" y="4462272"/>
            <a:ext cx="438912" cy="438912"/>
          </a:xfrm>
          <a:prstGeom prst="roundRect">
            <a:avLst/>
          </a:prstGeom>
          <a:solidFill>
            <a:srgbClr val="10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hone_cy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517136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87552" y="5057648"/>
            <a:ext cx="4718304" cy="10900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000" dirty="0"/>
              <a:t>Flutter Cross-Platform</a:t>
            </a:r>
          </a:p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</a:defRPr>
            </a:pPr>
            <a:r>
              <a:rPr sz="1700" dirty="0"/>
              <a:t>[FLUTTER 3.x]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rPr sz="1400" dirty="0"/>
              <a:t>Android APK (backward compatible from Android 5.0 Lollipop to Android 15), iOS, and Web build pipelines.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297680"/>
            <a:ext cx="5212080" cy="1920240"/>
          </a:xfrm>
          <a:prstGeom prst="roundRect">
            <a:avLst/>
          </a:prstGeom>
          <a:solidFill>
            <a:srgbClr val="162138"/>
          </a:solidFill>
          <a:ln w="1524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19088" y="4462272"/>
            <a:ext cx="438912" cy="438912"/>
          </a:xfrm>
          <a:prstGeom prst="roundRect">
            <a:avLst/>
          </a:prstGeom>
          <a:solidFill>
            <a:srgbClr val="382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ood_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4517136"/>
            <a:ext cx="329184" cy="3291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19088" y="4956048"/>
            <a:ext cx="4785360" cy="10900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2000" dirty="0"/>
              <a:t>Doctor PDF Stream Generator</a:t>
            </a:r>
          </a:p>
          <a:p>
            <a:pPr>
              <a:spcAft>
                <a:spcPts val="400"/>
              </a:spcAft>
              <a:defRPr sz="950" b="1">
                <a:solidFill>
                  <a:srgbClr val="06B6D4"/>
                </a:solidFill>
              </a:defRPr>
            </a:pPr>
            <a:r>
              <a:rPr sz="1700" dirty="0"/>
              <a:t>[PHYSICIAN REPORTS]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rPr sz="1400" dirty="0"/>
              <a:t>Zero-dependency pure Python binary PDF 1.4 engine generating weekly metabolic summaries ready for physicians.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90A26-D404-509D-153E-B7FC8E289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461312F-54D6-8CC2-2EDD-EF1DFFCDAF0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81119F-6DC0-173E-FB7E-2D3E9E5B5218}"/>
              </a:ext>
            </a:extLst>
          </p:cNvPr>
          <p:cNvSpPr txBox="1"/>
          <p:nvPr/>
        </p:nvSpPr>
        <p:spPr>
          <a:xfrm>
            <a:off x="682018" y="1905506"/>
            <a:ext cx="1082765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VISION &amp; ROADMAP</a:t>
            </a:r>
          </a:p>
        </p:txBody>
      </p:sp>
    </p:spTree>
    <p:extLst>
      <p:ext uri="{BB962C8B-B14F-4D97-AF65-F5344CB8AC3E}">
        <p14:creationId xmlns:p14="http://schemas.microsoft.com/office/powerpoint/2010/main" val="1438785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400" b="1">
                <a:solidFill>
                  <a:srgbClr val="F8FAFC"/>
                </a:solidFill>
              </a:defRPr>
            </a:pPr>
            <a:r>
              <a:rPr sz="3200" dirty="0">
                <a:solidFill>
                  <a:srgbClr val="00B050"/>
                </a:solidFill>
              </a:rPr>
              <a:t> 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FB9B81-5965-AA75-5E74-6A16979DAFAF}"/>
              </a:ext>
            </a:extLst>
          </p:cNvPr>
          <p:cNvGrpSpPr/>
          <p:nvPr/>
        </p:nvGrpSpPr>
        <p:grpSpPr>
          <a:xfrm>
            <a:off x="1106424" y="824443"/>
            <a:ext cx="9948672" cy="2415015"/>
            <a:chOff x="1106424" y="824443"/>
            <a:chExt cx="9948672" cy="2415015"/>
          </a:xfrm>
        </p:grpSpPr>
        <p:sp>
          <p:nvSpPr>
            <p:cNvPr id="9" name="Rounded Rectangle 8"/>
            <p:cNvSpPr/>
            <p:nvPr/>
          </p:nvSpPr>
          <p:spPr>
            <a:xfrm>
              <a:off x="1106424" y="824443"/>
              <a:ext cx="9948672" cy="2415015"/>
            </a:xfrm>
            <a:prstGeom prst="roundRect">
              <a:avLst/>
            </a:prstGeom>
            <a:solidFill>
              <a:srgbClr val="162138"/>
            </a:solidFill>
            <a:ln w="15240">
              <a:solidFill>
                <a:srgbClr val="283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26E1B18-2C29-AF11-9CF6-3EF15C644244}"/>
                </a:ext>
              </a:extLst>
            </p:cNvPr>
            <p:cNvGrpSpPr/>
            <p:nvPr/>
          </p:nvGrpSpPr>
          <p:grpSpPr>
            <a:xfrm>
              <a:off x="5858103" y="1013606"/>
              <a:ext cx="475488" cy="475488"/>
              <a:chOff x="4590288" y="1764792"/>
              <a:chExt cx="475488" cy="475488"/>
            </a:xfrm>
          </p:grpSpPr>
          <p:sp>
            <p:nvSpPr>
              <p:cNvPr id="10" name="Rounded Rectangle 9"/>
              <p:cNvSpPr/>
              <p:nvPr/>
            </p:nvSpPr>
            <p:spPr>
              <a:xfrm>
                <a:off x="4590288" y="1764792"/>
                <a:ext cx="475488" cy="475488"/>
              </a:xfrm>
              <a:prstGeom prst="roundRect">
                <a:avLst/>
              </a:prstGeom>
              <a:solidFill>
                <a:srgbClr val="1030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1" name="Picture 10" descr="briefcase_cyan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645152" y="1819656"/>
                <a:ext cx="365760" cy="365760"/>
              </a:xfrm>
              <a:prstGeom prst="rect">
                <a:avLst/>
              </a:prstGeom>
            </p:spPr>
          </p:pic>
        </p:grpSp>
        <p:sp>
          <p:nvSpPr>
            <p:cNvPr id="12" name="TextBox 11"/>
            <p:cNvSpPr txBox="1"/>
            <p:nvPr/>
          </p:nvSpPr>
          <p:spPr>
            <a:xfrm>
              <a:off x="1619250" y="1549252"/>
              <a:ext cx="8972550" cy="169020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>
                <a:spcAft>
                  <a:spcPts val="300"/>
                </a:spcAft>
                <a:defRPr sz="1450" b="1">
                  <a:solidFill>
                    <a:srgbClr val="F8FAFC"/>
                  </a:solidFill>
                </a:defRPr>
              </a:pPr>
              <a:r>
                <a:rPr lang="en-US" sz="3200" dirty="0">
                  <a:solidFill>
                    <a:srgbClr val="00BCD4"/>
                  </a:solidFill>
                </a:rPr>
                <a:t>Our Vision</a:t>
              </a:r>
              <a:endParaRPr sz="3200" dirty="0">
                <a:solidFill>
                  <a:srgbClr val="00BCD4"/>
                </a:solidFill>
              </a:endParaRPr>
            </a:p>
            <a:p>
              <a:pPr algn="ctr">
                <a:spcAft>
                  <a:spcPts val="400"/>
                </a:spcAft>
                <a:defRPr sz="950" b="1">
                  <a:solidFill>
                    <a:srgbClr val="06B6D4"/>
                  </a:solidFill>
                </a:defRPr>
              </a:pPr>
              <a:r>
                <a:rPr lang="en-US" sz="2400" i="1" dirty="0">
                  <a:solidFill>
                    <a:schemeClr val="bg1"/>
                  </a:solidFill>
                </a:rPr>
                <a:t>"Making metabolic health culturally accurate, clinically safe, and universally accessible."</a:t>
              </a:r>
            </a:p>
            <a:p>
              <a:pPr algn="ctr">
                <a:spcAft>
                  <a:spcPts val="400"/>
                </a:spcAft>
                <a:defRPr sz="950" b="1">
                  <a:solidFill>
                    <a:srgbClr val="06B6D4"/>
                  </a:solidFill>
                </a:defRPr>
              </a:pPr>
              <a:endParaRPr sz="2400" dirty="0"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1106424" y="3656454"/>
            <a:ext cx="9948672" cy="2415015"/>
          </a:xfrm>
          <a:prstGeom prst="roundRect">
            <a:avLst/>
          </a:prstGeom>
          <a:solidFill>
            <a:srgbClr val="162138"/>
          </a:solidFill>
          <a:ln w="15240">
            <a:solidFill>
              <a:srgbClr val="28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E07CFA0-4CEB-4DE5-0311-7BD2BA6E323C}"/>
              </a:ext>
            </a:extLst>
          </p:cNvPr>
          <p:cNvGrpSpPr/>
          <p:nvPr/>
        </p:nvGrpSpPr>
        <p:grpSpPr>
          <a:xfrm>
            <a:off x="5843016" y="3803237"/>
            <a:ext cx="475488" cy="475488"/>
            <a:chOff x="8247888" y="1764792"/>
            <a:chExt cx="475488" cy="475488"/>
          </a:xfrm>
        </p:grpSpPr>
        <p:sp>
          <p:nvSpPr>
            <p:cNvPr id="14" name="Rounded Rectangle 13"/>
            <p:cNvSpPr/>
            <p:nvPr/>
          </p:nvSpPr>
          <p:spPr>
            <a:xfrm>
              <a:off x="8247888" y="1764792"/>
              <a:ext cx="475488" cy="475488"/>
            </a:xfrm>
            <a:prstGeom prst="roundRect">
              <a:avLst/>
            </a:prstGeom>
            <a:solidFill>
              <a:srgbClr val="382C1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" name="Picture 14" descr="rocket_ambe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02752" y="1819656"/>
              <a:ext cx="365760" cy="365760"/>
            </a:xfrm>
            <a:prstGeom prst="rect">
              <a:avLst/>
            </a:prstGeom>
          </p:spPr>
        </p:pic>
      </p:grpSp>
      <p:sp>
        <p:nvSpPr>
          <p:cNvPr id="16" name="TextBox 15"/>
          <p:cNvSpPr txBox="1"/>
          <p:nvPr/>
        </p:nvSpPr>
        <p:spPr>
          <a:xfrm>
            <a:off x="1619250" y="4333589"/>
            <a:ext cx="8972550" cy="900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300"/>
              </a:spcAft>
              <a:defRPr sz="1450" b="1">
                <a:solidFill>
                  <a:srgbClr val="F8FAFC"/>
                </a:solidFill>
              </a:defRPr>
            </a:pPr>
            <a:r>
              <a:rPr sz="3200" dirty="0"/>
              <a:t>Future Roadmap</a:t>
            </a:r>
          </a:p>
          <a:p>
            <a:pPr algn="ctr">
              <a:spcAft>
                <a:spcPts val="400"/>
              </a:spcAft>
              <a:defRPr sz="950" b="1">
                <a:solidFill>
                  <a:srgbClr val="F59E0B"/>
                </a:solidFill>
              </a:defRPr>
            </a:pPr>
            <a:r>
              <a:rPr sz="2400" dirty="0"/>
              <a:t>UPCOMING MILESTONES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A5DC2-6148-AD41-5CB6-C493B62CE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2F5E38-720F-2DAF-9526-7927A015FA4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59B73D-4B53-5F11-7899-7DD34958AECB}"/>
              </a:ext>
            </a:extLst>
          </p:cNvPr>
          <p:cNvSpPr txBox="1"/>
          <p:nvPr/>
        </p:nvSpPr>
        <p:spPr>
          <a:xfrm>
            <a:off x="682018" y="2644170"/>
            <a:ext cx="1082765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rPr lang="en-US" sz="9600" dirty="0">
                <a:solidFill>
                  <a:srgbClr val="00BCD4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15902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403</Words>
  <Application>Microsoft Office PowerPoint</Application>
  <PresentationFormat>Widescreen</PresentationFormat>
  <Paragraphs>81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Jamal Matloob 2024-CS-189</cp:lastModifiedBy>
  <cp:revision>8</cp:revision>
  <dcterms:created xsi:type="dcterms:W3CDTF">2013-01-27T09:14:16Z</dcterms:created>
  <dcterms:modified xsi:type="dcterms:W3CDTF">2026-09-01T07:29:19Z</dcterms:modified>
  <cp:category/>
</cp:coreProperties>
</file>