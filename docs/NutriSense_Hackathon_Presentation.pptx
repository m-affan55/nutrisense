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8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49331" y="1000000"/>
            <a:ext cx="8493031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Poppins"/>
              </a:defRPr>
            </a:pPr>
            <a:r>
              <a:t>BANO QABIL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9331" y="1450000"/>
            <a:ext cx="8493031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>
                <a:solidFill>
                  <a:srgbClr val="00B050"/>
                </a:solidFill>
                <a:latin typeface="Poppins"/>
              </a:rPr>
              <a:t>Nutri</a:t>
            </a:r>
            <a:r>
              <a:rPr sz="10000" b="1">
                <a:solidFill>
                  <a:srgbClr val="00BCD4"/>
                </a:solidFill>
                <a:latin typeface="Poppins"/>
              </a:rPr>
              <a:t>Sense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96000" y="3350000"/>
            <a:ext cx="8800000" cy="280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96000" y="3700000"/>
            <a:ext cx="800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2200" b="1">
                <a:solidFill>
                  <a:srgbClr val="FFFFFF"/>
                </a:solidFill>
                <a:latin typeface="Poppins"/>
              </a:defRPr>
            </a:pPr>
            <a:r>
              <a:t>Pakistan's First AI-Powered Personal Clinical Nutritionist  -  in Your Language, for Your Food</a:t>
            </a:r>
          </a:p>
          <a:p>
            <a:pPr algn="ctr">
              <a:spcAft>
                <a:spcPts val="1800"/>
              </a:spcAft>
              <a:defRPr sz="1500">
                <a:solidFill>
                  <a:srgbClr val="94A3B8"/>
                </a:solidFill>
                <a:latin typeface="Poppins"/>
              </a:defRPr>
            </a:pPr>
            <a:r>
              <a:t>Safe, Profile-Aware Dietary Guidance for Chronic Illness, Everyday Fitness, and Local Diets</a:t>
            </a:r>
          </a:p>
          <a:p>
            <a:pPr algn="ctr">
              <a:defRPr sz="1200" b="1">
                <a:solidFill>
                  <a:srgbClr val="00BCD4"/>
                </a:solidFill>
                <a:latin typeface="Poppins"/>
              </a:defRPr>
            </a:pPr>
            <a:r>
              <a:t>[URDU &amp; ENGLISH VOICE]    -    [CLINICAL DUAL-AGENT]    -    [PAKISTANI FOOD INTELLIGENCE]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21282" y="1200000"/>
            <a:ext cx="10349436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B050"/>
                </a:solidFill>
                <a:latin typeface="Poppins"/>
              </a:defRPr>
            </a:pPr>
            <a:r>
              <a:t>PRESENTED BY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1282" y="2000000"/>
            <a:ext cx="4953000" cy="3600000"/>
          </a:xfrm>
          <a:prstGeom prst="roundRect">
            <a:avLst/>
          </a:prstGeom>
          <a:solidFill>
            <a:srgbClr val="162138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lide2_Picture_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182" y="2450000"/>
            <a:ext cx="1219200" cy="121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21282" y="3900000"/>
            <a:ext cx="4353000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600" b="1">
                <a:solidFill>
                  <a:srgbClr val="00BCD4"/>
                </a:solidFill>
                <a:latin typeface="Poppins"/>
              </a:defRPr>
            </a:pPr>
            <a:r>
              <a:rPr dirty="0"/>
              <a:t>Jamal Matloob</a:t>
            </a:r>
          </a:p>
          <a:p>
            <a:pPr algn="ctr">
              <a:defRPr sz="1400">
                <a:solidFill>
                  <a:srgbClr val="E2E8F0"/>
                </a:solidFill>
                <a:latin typeface="Poppins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317718" y="2000000"/>
            <a:ext cx="4953000" cy="3600000"/>
          </a:xfrm>
          <a:prstGeom prst="roundRect">
            <a:avLst/>
          </a:prstGeom>
          <a:solidFill>
            <a:srgbClr val="162138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lide2_Picture_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618" y="2450000"/>
            <a:ext cx="1219200" cy="121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17718" y="3900000"/>
            <a:ext cx="4353000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600" b="1">
                <a:solidFill>
                  <a:srgbClr val="00BCD4"/>
                </a:solidFill>
                <a:latin typeface="Poppins"/>
              </a:defRPr>
            </a:pPr>
            <a:r>
              <a:rPr dirty="0"/>
              <a:t>Affan Asim</a:t>
            </a:r>
          </a:p>
          <a:p>
            <a:pPr algn="ctr">
              <a:defRPr sz="1400">
                <a:solidFill>
                  <a:srgbClr val="E2E8F0"/>
                </a:solidFill>
                <a:latin typeface="Poppins"/>
              </a:defRPr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2171" y="2813447"/>
            <a:ext cx="10827657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0"/>
              </a:spcAft>
              <a:defRPr sz="8000" b="1">
                <a:solidFill>
                  <a:srgbClr val="00BCD4"/>
                </a:solidFill>
                <a:latin typeface="Poppins"/>
              </a:defRPr>
            </a:pPr>
            <a:r>
              <a:rPr dirty="0"/>
              <a:t>THE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20000"/>
            <a:ext cx="107289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B050"/>
                </a:solidFill>
                <a:latin typeface="Poppins"/>
              </a:defRPr>
            </a:pPr>
            <a:r>
              <a:rPr dirty="0"/>
              <a:t>The Danger of Generic, 'Blind' AI Suggestions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0000"/>
            <a:ext cx="337632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1520" y="1740000"/>
            <a:ext cx="460000" cy="460000"/>
          </a:xfrm>
          <a:prstGeom prst="roundRect">
            <a:avLst/>
          </a:prstGeom>
          <a:solidFill>
            <a:srgbClr val="3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lide4_Picture_14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0" y="1810000"/>
            <a:ext cx="320000" cy="3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1520" y="2340000"/>
            <a:ext cx="285632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87171"/>
                </a:solidFill>
                <a:latin typeface="Poppins"/>
              </a:defRPr>
            </a:pPr>
            <a:r>
              <a:rPr dirty="0"/>
              <a:t>[ZERO MEDICAL CONTEXT]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rPr dirty="0"/>
              <a:t>Zero Patient Context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0BCD4"/>
                </a:solidFill>
                <a:latin typeface="Poppins"/>
              </a:rPr>
              <a:t>Unaware of Baseline: </a:t>
            </a:r>
            <a:r>
              <a:rPr sz="1200" b="0" dirty="0">
                <a:solidFill>
                  <a:srgbClr val="E2E8F0"/>
                </a:solidFill>
                <a:latin typeface="Poppins"/>
              </a:rPr>
              <a:t>Generic chatbots have zero knowledge of a user's biometrics, lab test results, or diagnosed chronic illnesses.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0BCD4"/>
                </a:solidFill>
                <a:latin typeface="Poppins"/>
              </a:rPr>
              <a:t>Identical Treatment: </a:t>
            </a:r>
            <a:r>
              <a:rPr sz="1200" b="0" dirty="0">
                <a:solidFill>
                  <a:srgbClr val="E2E8F0"/>
                </a:solidFill>
                <a:latin typeface="Poppins"/>
              </a:rPr>
              <a:t>A diabetic patient with severe insulin resistance receives the exact same diet advice as a healthy marathon runner.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0BCD4"/>
                </a:solidFill>
                <a:latin typeface="Poppins"/>
              </a:rPr>
              <a:t>Stateless Amnesia: </a:t>
            </a:r>
            <a:r>
              <a:rPr sz="1200" b="0" dirty="0">
                <a:solidFill>
                  <a:srgbClr val="E2E8F0"/>
                </a:solidFill>
                <a:latin typeface="Poppins"/>
              </a:rPr>
              <a:t>No persistent tracking of 7-day nutritional intake or accumulated sodium and glucose loads.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840" y="1500000"/>
            <a:ext cx="337632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67840" y="1740000"/>
            <a:ext cx="460000" cy="460000"/>
          </a:xfrm>
          <a:prstGeom prst="roundRect">
            <a:avLst/>
          </a:prstGeom>
          <a:solidFill>
            <a:srgbClr val="3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lide4_Picture_6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840" y="1810000"/>
            <a:ext cx="320000" cy="3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7840" y="2340000"/>
            <a:ext cx="285632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87171"/>
                </a:solidFill>
                <a:latin typeface="Poppins"/>
              </a:defRPr>
            </a:pPr>
            <a:r>
              <a:rPr dirty="0"/>
              <a:t>[LETHAL RECOMMENDATIONS]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rPr lang="en-US" dirty="0"/>
              <a:t>Dangerous Meal Advice</a:t>
            </a:r>
          </a:p>
          <a:p>
            <a:pPr>
              <a:spcAft>
                <a:spcPts val="500"/>
              </a:spcAft>
            </a:pPr>
            <a:r>
              <a:rPr lang="en-US" sz="1200" b="1" dirty="0">
                <a:solidFill>
                  <a:srgbClr val="00BCD4"/>
                </a:solidFill>
                <a:latin typeface="Poppins"/>
              </a:rPr>
              <a:t>Glycemic Shock: </a:t>
            </a:r>
            <a:r>
              <a:rPr lang="en-US" sz="1200" b="0" dirty="0">
                <a:solidFill>
                  <a:srgbClr val="E2E8F0"/>
                </a:solidFill>
                <a:latin typeface="Poppins"/>
              </a:rPr>
              <a:t>B</a:t>
            </a:r>
            <a:r>
              <a:rPr sz="1200" b="0" dirty="0">
                <a:solidFill>
                  <a:srgbClr val="E2E8F0"/>
                </a:solidFill>
                <a:latin typeface="Poppins"/>
              </a:rPr>
              <a:t>lind suggestions to 'drink fruit smoothies and raw honey' trigger acute, life-threatening glycemic spikes in diabetics.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0BCD4"/>
                </a:solidFill>
                <a:latin typeface="Poppins"/>
              </a:rPr>
              <a:t>Hypertensive Crisis: </a:t>
            </a:r>
            <a:r>
              <a:rPr sz="1200" b="0" dirty="0">
                <a:solidFill>
                  <a:srgbClr val="E2E8F0"/>
                </a:solidFill>
                <a:latin typeface="Poppins"/>
              </a:rPr>
              <a:t>Recommends high-sodium meals or salt-laden snacks to users suffering from uncontrolled blood pressure.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0BCD4"/>
                </a:solidFill>
                <a:latin typeface="Poppins"/>
              </a:rPr>
              <a:t>Contraindication Blind: </a:t>
            </a:r>
            <a:r>
              <a:rPr sz="1200" b="0" dirty="0">
                <a:solidFill>
                  <a:srgbClr val="E2E8F0"/>
                </a:solidFill>
                <a:latin typeface="Poppins"/>
              </a:rPr>
              <a:t>Fails to flag fatal food-drug interactions or ingredients that aggravate chronic gastrointestinal disease.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4160" y="1500000"/>
            <a:ext cx="337632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344160" y="1740000"/>
            <a:ext cx="460000" cy="460000"/>
          </a:xfrm>
          <a:prstGeom prst="roundRect">
            <a:avLst/>
          </a:prstGeom>
          <a:solidFill>
            <a:srgbClr val="38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lide6_Picture_10_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4160" y="1810000"/>
            <a:ext cx="320000" cy="32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44160" y="2340000"/>
            <a:ext cx="285632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CC224"/>
                </a:solidFill>
                <a:latin typeface="Poppins"/>
              </a:defRPr>
            </a:pPr>
            <a:r>
              <a:rPr dirty="0"/>
              <a:t>[NO CLINICAL GUARDRAILS]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rPr dirty="0"/>
              <a:t>Absence of Guardrails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0BCD4"/>
                </a:solidFill>
                <a:latin typeface="Poppins"/>
              </a:rPr>
              <a:t>Hallucinated Math: </a:t>
            </a:r>
            <a:r>
              <a:rPr sz="1200" b="0" dirty="0">
                <a:solidFill>
                  <a:srgbClr val="E2E8F0"/>
                </a:solidFill>
                <a:latin typeface="Poppins"/>
              </a:rPr>
              <a:t>Standard LLMs generate unconstrained, mathematically inaccurate macro numbers and caloric estimates.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0BCD4"/>
                </a:solidFill>
                <a:latin typeface="Poppins"/>
              </a:rPr>
              <a:t>No Safety Oversight: </a:t>
            </a:r>
            <a:r>
              <a:rPr sz="1200" b="0" dirty="0">
                <a:solidFill>
                  <a:srgbClr val="E2E8F0"/>
                </a:solidFill>
                <a:latin typeface="Poppins"/>
              </a:rPr>
              <a:t>Lacks independent clinical evaluation to filter out unsafe advice before it reaches the patient.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0BCD4"/>
                </a:solidFill>
                <a:latin typeface="Poppins"/>
              </a:rPr>
              <a:t>No Emergency Escalation: </a:t>
            </a:r>
            <a:r>
              <a:rPr sz="1200" b="0" dirty="0">
                <a:solidFill>
                  <a:srgbClr val="E2E8F0"/>
                </a:solidFill>
                <a:latin typeface="Poppins"/>
              </a:rPr>
              <a:t>Cannot detect acute emergency symptoms (hypoglycemia, fainting) or route users to emergency clinics.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20000"/>
            <a:ext cx="107289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B050"/>
                </a:solidFill>
                <a:latin typeface="Poppins"/>
              </a:defRPr>
            </a:pPr>
            <a:r>
              <a:rPr dirty="0"/>
              <a:t>The Pakistani Reality: Cultural &amp; Language Gaps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0000"/>
            <a:ext cx="518448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1520" y="1740000"/>
            <a:ext cx="460000" cy="460000"/>
          </a:xfrm>
          <a:prstGeom prst="roundRect">
            <a:avLst/>
          </a:prstGeom>
          <a:solidFill>
            <a:srgbClr val="38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lide4_Picture_10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0" y="1810000"/>
            <a:ext cx="320000" cy="3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1520" y="2340000"/>
            <a:ext cx="466448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CC224"/>
                </a:solidFill>
                <a:latin typeface="Poppins"/>
              </a:defRPr>
            </a:pPr>
            <a:r>
              <a:t>[LOCAL CUISINE BLINDSPOT]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Western Food Bias in Existing Apps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Western Centricity: </a:t>
            </a:r>
            <a:r>
              <a:rPr sz="1200" b="0">
                <a:solidFill>
                  <a:srgbClr val="E2E8F0"/>
                </a:solidFill>
                <a:latin typeface="Poppins"/>
              </a:rPr>
              <a:t>Global health apps (MyFitnessPal, Noom) only recognize western packaged foods, oats, and single-item salads.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Composite Meal Failure: </a:t>
            </a:r>
            <a:r>
              <a:rPr sz="1200" b="0">
                <a:solidFill>
                  <a:srgbClr val="E2E8F0"/>
                </a:solidFill>
                <a:latin typeface="Poppins"/>
              </a:rPr>
              <a:t>Completely incapable of breaking down complex South Asian composite dishes like Biryani, Nihari, Haleem, Daal, and Karahi.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Hidden Cooking Fats: </a:t>
            </a:r>
            <a:r>
              <a:rPr sz="1200" b="0">
                <a:solidFill>
                  <a:srgbClr val="E2E8F0"/>
                </a:solidFill>
                <a:latin typeface="Poppins"/>
              </a:rPr>
              <a:t>Ignores the metabolic impact of local cooking practices: heavy ghee, oil-soaked tarka, and rich gravies.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Portion Metric Gap: </a:t>
            </a:r>
            <a:r>
              <a:rPr sz="1200" b="0">
                <a:solidFill>
                  <a:srgbClr val="E2E8F0"/>
                </a:solidFill>
                <a:latin typeface="Poppins"/>
              </a:rPr>
              <a:t>Forces western gram weights instead of real-life local portion metrics (rotis, katoris, tolas).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6000" y="1500000"/>
            <a:ext cx="518448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36000" y="1740000"/>
            <a:ext cx="460000" cy="460000"/>
          </a:xfrm>
          <a:prstGeom prst="roundRect">
            <a:avLst/>
          </a:prstGeom>
          <a:solidFill>
            <a:srgbClr val="1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lide11_Picture_10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000" y="1810000"/>
            <a:ext cx="320000" cy="3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6000" y="2340000"/>
            <a:ext cx="466448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BCD4"/>
                </a:solidFill>
                <a:latin typeface="Poppins"/>
              </a:defRPr>
            </a:pPr>
            <a:r>
              <a:t>[THE DIGITAL HEALTH DIVIDE]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The Urdu Language Barrier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Linguistic Exclusion: </a:t>
            </a:r>
            <a:r>
              <a:rPr sz="1200" b="0">
                <a:solidFill>
                  <a:srgbClr val="E2E8F0"/>
                </a:solidFill>
                <a:latin typeface="Poppins"/>
              </a:rPr>
              <a:t>Virtually all existing digital nutrition tools operate strictly in English, locking out over 85% of Pakistan's population.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Caregiver Disconnect: </a:t>
            </a:r>
            <a:r>
              <a:rPr sz="1200" b="0">
                <a:solidFill>
                  <a:srgbClr val="E2E8F0"/>
                </a:solidFill>
                <a:latin typeface="Poppins"/>
              </a:rPr>
              <a:t>Homemakers and elders who make daily meal decisions for multi-generational families cannot use English interfaces.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High Clinical Need: </a:t>
            </a:r>
            <a:r>
              <a:rPr sz="1200" b="0">
                <a:solidFill>
                  <a:srgbClr val="E2E8F0"/>
                </a:solidFill>
                <a:latin typeface="Poppins"/>
              </a:rPr>
              <a:t>The populations suffering highest from chronic diabetes and hypertension are precisely those excluded by language barriers.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Consultation Deficit: </a:t>
            </a:r>
            <a:r>
              <a:rPr sz="1200" b="0">
                <a:solidFill>
                  <a:srgbClr val="E2E8F0"/>
                </a:solidFill>
                <a:latin typeface="Poppins"/>
              </a:rPr>
              <a:t>Qualified private dietitians charge thousands per consult, leaving the vast majority with zero accessible guidance.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20000"/>
            <a:ext cx="107289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B050"/>
                </a:solidFill>
                <a:latin typeface="Poppins"/>
              </a:defRPr>
            </a:pPr>
            <a:r>
              <a:rPr dirty="0"/>
              <a:t>Who It Affects: High-Risk Clinical Populations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0000"/>
            <a:ext cx="337632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1520" y="1740000"/>
            <a:ext cx="460000" cy="460000"/>
          </a:xfrm>
          <a:prstGeom prst="roundRect">
            <a:avLst/>
          </a:prstGeom>
          <a:solidFill>
            <a:srgbClr val="3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on_diab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0" y="1810000"/>
            <a:ext cx="320000" cy="3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1520" y="2340000"/>
            <a:ext cx="285632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87171"/>
                </a:solidFill>
                <a:latin typeface="Poppins"/>
              </a:defRPr>
            </a:pPr>
            <a:r>
              <a:t>[33M+ ADULTS IN PAKISTAN]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Type 2 Diabetes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Global 3rd Highest: </a:t>
            </a:r>
            <a:r>
              <a:rPr sz="1200" b="0">
                <a:solidFill>
                  <a:srgbClr val="E2E8F0"/>
                </a:solidFill>
                <a:latin typeface="Poppins"/>
              </a:rPr>
              <a:t>Pakistan ranks 3rd worldwide with over 33 million diabetic adults facing severe complications.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Low-GI Roti Guidance: </a:t>
            </a:r>
            <a:r>
              <a:rPr sz="1200" b="0">
                <a:solidFill>
                  <a:srgbClr val="E2E8F0"/>
                </a:solidFill>
                <a:latin typeface="Poppins"/>
              </a:rPr>
              <a:t>Requires precise carb limits on rotis and rice with low-GI substitutions to avert postprandial spikes.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Glucose Monitoring: </a:t>
            </a:r>
            <a:r>
              <a:rPr sz="1200" b="0">
                <a:solidFill>
                  <a:srgbClr val="E2E8F0"/>
                </a:solidFill>
                <a:latin typeface="Poppins"/>
              </a:rPr>
              <a:t>Needs instant intervention alerts when blood glucose drops below 70 or spikes above 300 mg/dL.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840" y="1500000"/>
            <a:ext cx="337632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67840" y="1740000"/>
            <a:ext cx="460000" cy="460000"/>
          </a:xfrm>
          <a:prstGeom prst="roundRect">
            <a:avLst/>
          </a:prstGeom>
          <a:solidFill>
            <a:srgbClr val="38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on_hyperten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840" y="1810000"/>
            <a:ext cx="320000" cy="3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7840" y="2340000"/>
            <a:ext cx="285632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CC224"/>
                </a:solidFill>
                <a:latin typeface="Poppins"/>
              </a:defRPr>
            </a:pPr>
            <a:r>
              <a:t>[THE SILENT KILLER]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Hypertensive Patients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Strict Sodium Limits: </a:t>
            </a:r>
            <a:r>
              <a:rPr sz="1200" b="0">
                <a:solidFill>
                  <a:srgbClr val="E2E8F0"/>
                </a:solidFill>
                <a:latin typeface="Poppins"/>
              </a:rPr>
              <a:t>High prevalence of stroke and heart disease driven by excessive salt in commercial masalas and street foods.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Curry Adaptations: </a:t>
            </a:r>
            <a:r>
              <a:rPr sz="1200" b="0">
                <a:solidFill>
                  <a:srgbClr val="E2E8F0"/>
                </a:solidFill>
                <a:latin typeface="Poppins"/>
              </a:rPr>
              <a:t>Needs culturally authentic low-sodium DASH-diet adaptations for traditional curries and gravies.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Blood Pressure Defense: </a:t>
            </a:r>
            <a:r>
              <a:rPr sz="1200" b="0">
                <a:solidFill>
                  <a:srgbClr val="E2E8F0"/>
                </a:solidFill>
                <a:latin typeface="Poppins"/>
              </a:rPr>
              <a:t>Restricts high-sodium foods while eliminating high-strain isometric exercises.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4160" y="1500000"/>
            <a:ext cx="337632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344160" y="1740000"/>
            <a:ext cx="460000" cy="460000"/>
          </a:xfrm>
          <a:prstGeom prst="roundRect">
            <a:avLst/>
          </a:prstGeom>
          <a:solidFill>
            <a:srgbClr val="123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con_gut_heal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4160" y="1810000"/>
            <a:ext cx="320000" cy="32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44160" y="2340000"/>
            <a:ext cx="285632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Poppins"/>
              </a:defRPr>
            </a:pPr>
            <a:r>
              <a:t>[DIGESTIVE DISORDERS]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Gut Health &amp; GERD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Severe Acid Reflux: </a:t>
            </a:r>
            <a:r>
              <a:rPr sz="1200" b="0">
                <a:solidFill>
                  <a:srgbClr val="E2E8F0"/>
                </a:solidFill>
                <a:latin typeface="Poppins"/>
              </a:rPr>
              <a:t>Widespread chronic gastritis, GERD, and IBS aggravated by heavy oil and intense chili spices.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Trigger Warnings: </a:t>
            </a:r>
            <a:r>
              <a:rPr sz="1200" b="0">
                <a:solidFill>
                  <a:srgbClr val="E2E8F0"/>
                </a:solidFill>
                <a:latin typeface="Poppins"/>
              </a:rPr>
              <a:t>Instant alerts against trigger ingredients with calming local alternatives (curd, isabgol, mint).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Microbiome Restoration: </a:t>
            </a:r>
            <a:r>
              <a:rPr sz="1200" b="0">
                <a:solidFill>
                  <a:srgbClr val="E2E8F0"/>
                </a:solidFill>
                <a:latin typeface="Poppins"/>
              </a:rPr>
              <a:t>Culturally aligned probiotic meal suggestions to rebuild gut flora naturally.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20000"/>
            <a:ext cx="107289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B050"/>
                </a:solidFill>
                <a:latin typeface="Poppins"/>
              </a:defRPr>
            </a:pPr>
            <a:r>
              <a:rPr dirty="0"/>
              <a:t>Who It Affects: Fitness Seekers &amp; Caregivers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0000"/>
            <a:ext cx="337632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1520" y="1740000"/>
            <a:ext cx="460000" cy="460000"/>
          </a:xfrm>
          <a:prstGeom prst="roundRect">
            <a:avLst/>
          </a:prstGeom>
          <a:solidFill>
            <a:srgbClr val="1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on_weight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0" y="1810000"/>
            <a:ext cx="320000" cy="3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1520" y="2340000"/>
            <a:ext cx="285632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BCD4"/>
                </a:solidFill>
                <a:latin typeface="Poppins"/>
              </a:defRPr>
            </a:pPr>
            <a:r>
              <a:t>[SUSTAINABLE DEFICIT]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Obesity &amp; Fat Loss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Metabolic Syndrome: </a:t>
            </a:r>
            <a:r>
              <a:rPr sz="1200" b="0">
                <a:solidFill>
                  <a:srgbClr val="E2E8F0"/>
                </a:solidFill>
                <a:latin typeface="Poppins"/>
              </a:rPr>
              <a:t>Millions battling stubborn visceral fat and slow metabolism in urban and suburban centers.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Home-Food Deficits: </a:t>
            </a:r>
            <a:r>
              <a:rPr sz="1200" b="0">
                <a:solidFill>
                  <a:srgbClr val="E2E8F0"/>
                </a:solidFill>
                <a:latin typeface="Poppins"/>
              </a:rPr>
              <a:t>Calculates sustainable caloric deficits using everyday home-cooked daal, chicken, and sabzi.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No Starvation Diets: </a:t>
            </a:r>
            <a:r>
              <a:rPr sz="1200" b="0">
                <a:solidFill>
                  <a:srgbClr val="E2E8F0"/>
                </a:solidFill>
                <a:latin typeface="Poppins"/>
              </a:rPr>
              <a:t>Replaces unsustainable western crash diets with culturally loved, nutrient-dense local meals.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840" y="1500000"/>
            <a:ext cx="337632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67840" y="1740000"/>
            <a:ext cx="460000" cy="460000"/>
          </a:xfrm>
          <a:prstGeom prst="roundRect">
            <a:avLst/>
          </a:prstGeom>
          <a:solidFill>
            <a:srgbClr val="123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lide10_Picture_10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840" y="1810000"/>
            <a:ext cx="320000" cy="3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7840" y="2340000"/>
            <a:ext cx="285632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Poppins"/>
              </a:defRPr>
            </a:pPr>
            <a:r>
              <a:t>[PROTEIN OPTIMIZATION]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Muscle Gain &amp; Fitness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Protein Deficit: </a:t>
            </a:r>
            <a:r>
              <a:rPr sz="1200" b="0">
                <a:solidFill>
                  <a:srgbClr val="E2E8F0"/>
                </a:solidFill>
                <a:latin typeface="Poppins"/>
              </a:rPr>
              <a:t>Pakistani diets are heavily carb-dense; fitness enthusiasts struggle to hit muscle-building targets.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Affordable Staples: </a:t>
            </a:r>
            <a:r>
              <a:rPr sz="1200" b="0">
                <a:solidFill>
                  <a:srgbClr val="E2E8F0"/>
                </a:solidFill>
                <a:latin typeface="Poppins"/>
              </a:rPr>
              <a:t>Optimizes protein intake using cost-effective local staples: eggs, lentils, chana, chicken, and milk.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Dynamic Calorie Splitting: </a:t>
            </a:r>
            <a:r>
              <a:rPr sz="1200" b="0">
                <a:solidFill>
                  <a:srgbClr val="E2E8F0"/>
                </a:solidFill>
                <a:latin typeface="Poppins"/>
              </a:rPr>
              <a:t>Adapts pre/post-workout meal timing around work and prayer schedules.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4160" y="1500000"/>
            <a:ext cx="337632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344160" y="1740000"/>
            <a:ext cx="460000" cy="460000"/>
          </a:xfrm>
          <a:prstGeom prst="roundRect">
            <a:avLst/>
          </a:prstGeom>
          <a:solidFill>
            <a:srgbClr val="38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lide4_Picture_18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4160" y="1810000"/>
            <a:ext cx="320000" cy="32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44160" y="2340000"/>
            <a:ext cx="285632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CC224"/>
                </a:solidFill>
                <a:latin typeface="Poppins"/>
              </a:defRPr>
            </a:pPr>
            <a:r>
              <a:t>[MULTI-GEN CARE]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Household Caregivers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Cooking for Many: </a:t>
            </a:r>
            <a:r>
              <a:rPr sz="1200" b="0">
                <a:solidFill>
                  <a:srgbClr val="E2E8F0"/>
                </a:solidFill>
                <a:latin typeface="Poppins"/>
              </a:rPr>
              <a:t>Homemakers preparing shared meals for multi-generational families with diverse medical conditions.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Conflicting Needs: </a:t>
            </a:r>
            <a:r>
              <a:rPr sz="1200" b="0">
                <a:solidFill>
                  <a:srgbClr val="E2E8F0"/>
                </a:solidFill>
                <a:latin typeface="Poppins"/>
              </a:rPr>
              <a:t>E.g., managing a diabetic father, a hypertensive mother, and an active child from the same cooking pot.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Healthy Pot Adjustments: </a:t>
            </a:r>
            <a:r>
              <a:rPr sz="1200" b="0">
                <a:solidFill>
                  <a:srgbClr val="E2E8F0"/>
                </a:solidFill>
                <a:latin typeface="Poppins"/>
              </a:rPr>
              <a:t>Teaches caregivers how to prepare balanced base dishes with easy modifications for each member.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2171" y="2813447"/>
            <a:ext cx="10827657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0"/>
              </a:spcAft>
              <a:defRPr sz="8000" b="1">
                <a:solidFill>
                  <a:srgbClr val="00BCD4"/>
                </a:solidFill>
                <a:latin typeface="Poppins"/>
              </a:defRPr>
            </a:pPr>
            <a:r>
              <a:rPr dirty="0"/>
              <a:t>OUR SOLUTION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20000"/>
            <a:ext cx="107289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B050"/>
                </a:solidFill>
                <a:latin typeface="Poppins"/>
              </a:defRPr>
            </a:pPr>
            <a:r>
              <a:rPr dirty="0" err="1"/>
              <a:t>NutriSense</a:t>
            </a:r>
            <a:r>
              <a:rPr dirty="0"/>
              <a:t>: Intelligent Clinical Dataflow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0000"/>
            <a:ext cx="236000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1520" y="1740000"/>
            <a:ext cx="460000" cy="460000"/>
          </a:xfrm>
          <a:prstGeom prst="roundRect">
            <a:avLst/>
          </a:prstGeom>
          <a:solidFill>
            <a:srgbClr val="123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lide2_Picture_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0" y="1810000"/>
            <a:ext cx="320000" cy="3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1520" y="2340000"/>
            <a:ext cx="184000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Poppins"/>
              </a:defRPr>
            </a:pPr>
            <a:r>
              <a:t>STEP 1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Health Baseline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Biometrics: </a:t>
            </a:r>
            <a:r>
              <a:rPr sz="1200" b="0">
                <a:solidFill>
                  <a:srgbClr val="E2E8F0"/>
                </a:solidFill>
                <a:latin typeface="Poppins"/>
              </a:rPr>
              <a:t>Age, weight, height, BMI, activity.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Medical Record: </a:t>
            </a:r>
            <a:r>
              <a:rPr sz="1200" b="0">
                <a:solidFill>
                  <a:srgbClr val="E2E8F0"/>
                </a:solidFill>
                <a:latin typeface="Poppins"/>
              </a:rPr>
              <a:t>Diabetes, BP, GERD, allergies.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Target Goals: </a:t>
            </a:r>
            <a:r>
              <a:rPr sz="1200" b="0">
                <a:solidFill>
                  <a:srgbClr val="E2E8F0"/>
                </a:solidFill>
                <a:latin typeface="Poppins"/>
              </a:rPr>
              <a:t>Sugar control, fat loss, muscle.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41520" y="3700000"/>
            <a:ext cx="320000" cy="180000"/>
          </a:xfrm>
          <a:prstGeom prst="right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11520" y="1500000"/>
            <a:ext cx="236000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71520" y="1740000"/>
            <a:ext cx="460000" cy="460000"/>
          </a:xfrm>
          <a:prstGeom prst="roundRect">
            <a:avLst/>
          </a:prstGeom>
          <a:solidFill>
            <a:srgbClr val="38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lide4_Picture_10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520" y="1810000"/>
            <a:ext cx="320000" cy="32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71520" y="2340000"/>
            <a:ext cx="184000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CC224"/>
                </a:solidFill>
                <a:latin typeface="Poppins"/>
              </a:defRPr>
            </a:pPr>
            <a:r>
              <a:t>STEP 2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Cultural Input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Voice Logging: </a:t>
            </a:r>
            <a:r>
              <a:rPr sz="1200" b="0">
                <a:solidFill>
                  <a:srgbClr val="E2E8F0"/>
                </a:solidFill>
                <a:latin typeface="Poppins"/>
              </a:rPr>
              <a:t>Natural Pakistani Urdu &amp; English.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Plate Scanning: </a:t>
            </a:r>
            <a:r>
              <a:rPr sz="1200" b="0">
                <a:solidFill>
                  <a:srgbClr val="E2E8F0"/>
                </a:solidFill>
                <a:latin typeface="Poppins"/>
              </a:rPr>
              <a:t>Vision analysis of composite foods.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Local Units: </a:t>
            </a:r>
            <a:r>
              <a:rPr sz="1200" b="0">
                <a:solidFill>
                  <a:srgbClr val="E2E8F0"/>
                </a:solidFill>
                <a:latin typeface="Poppins"/>
              </a:rPr>
              <a:t>Rotis, katoris, and tolas.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21520" y="3700000"/>
            <a:ext cx="320000" cy="180000"/>
          </a:xfrm>
          <a:prstGeom prst="right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91520" y="1500000"/>
            <a:ext cx="236000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51520" y="1740000"/>
            <a:ext cx="460000" cy="460000"/>
          </a:xfrm>
          <a:prstGeom prst="roundRect">
            <a:avLst/>
          </a:prstGeom>
          <a:solidFill>
            <a:srgbClr val="3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lide6_Picture_10_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520" y="1810000"/>
            <a:ext cx="320000" cy="32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51520" y="2340000"/>
            <a:ext cx="184000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87171"/>
                </a:solidFill>
                <a:latin typeface="Poppins"/>
              </a:defRPr>
            </a:pPr>
            <a:r>
              <a:t>STEP 3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Dual-Agent Engine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Agent 1 (Coach): </a:t>
            </a:r>
            <a:r>
              <a:rPr sz="1200" b="0">
                <a:solidFill>
                  <a:srgbClr val="E2E8F0"/>
                </a:solidFill>
                <a:latin typeface="Poppins"/>
              </a:rPr>
              <a:t>Drafts empathetic meal plan.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Agent 2 (Safety): </a:t>
            </a:r>
            <a:r>
              <a:rPr sz="1200" b="0">
                <a:solidFill>
                  <a:srgbClr val="E2E8F0"/>
                </a:solidFill>
                <a:latin typeface="Poppins"/>
              </a:rPr>
              <a:t>Audits medical contraindications.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Clinical RAG: </a:t>
            </a:r>
            <a:r>
              <a:rPr sz="1200" b="0">
                <a:solidFill>
                  <a:srgbClr val="E2E8F0"/>
                </a:solidFill>
                <a:latin typeface="Poppins"/>
              </a:rPr>
              <a:t>7-day history &amp; medical guidelines.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01520" y="3700000"/>
            <a:ext cx="320000" cy="180000"/>
          </a:xfrm>
          <a:prstGeom prst="right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071520" y="1500000"/>
            <a:ext cx="236000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331520" y="1740000"/>
            <a:ext cx="460000" cy="460000"/>
          </a:xfrm>
          <a:prstGeom prst="roundRect">
            <a:avLst/>
          </a:prstGeom>
          <a:solidFill>
            <a:srgbClr val="1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slide9_Picture_8_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1520" y="1810000"/>
            <a:ext cx="320000" cy="32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331520" y="2340000"/>
            <a:ext cx="184000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BCD4"/>
                </a:solidFill>
                <a:latin typeface="Poppins"/>
              </a:defRPr>
            </a:pPr>
            <a:r>
              <a:t>STEP 4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Safe Guidance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Smart Swaps: </a:t>
            </a:r>
            <a:r>
              <a:rPr sz="1200" b="0">
                <a:solidFill>
                  <a:srgbClr val="E2E8F0"/>
                </a:solidFill>
                <a:latin typeface="Poppins"/>
              </a:rPr>
              <a:t>Healthy authentic food alternatives.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Emergency Alerts: </a:t>
            </a:r>
            <a:r>
              <a:rPr sz="1200" b="0">
                <a:solidFill>
                  <a:srgbClr val="E2E8F0"/>
                </a:solidFill>
                <a:latin typeface="Poppins"/>
              </a:rPr>
              <a:t>Sub-50ms red-flag interceptor.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Physician PDFs: </a:t>
            </a:r>
            <a:r>
              <a:rPr sz="1200" b="0">
                <a:solidFill>
                  <a:srgbClr val="E2E8F0"/>
                </a:solidFill>
                <a:latin typeface="Poppins"/>
              </a:rPr>
              <a:t>Clinical doctor reports &amp; GPS.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20000"/>
            <a:ext cx="107289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B050"/>
                </a:solidFill>
                <a:latin typeface="Poppins"/>
              </a:defRPr>
            </a:pPr>
            <a:r>
              <a:rPr dirty="0"/>
              <a:t>Health Profiling &amp; Pakistani Food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0000"/>
            <a:ext cx="518448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1520" y="1740000"/>
            <a:ext cx="460000" cy="460000"/>
          </a:xfrm>
          <a:prstGeom prst="roundRect">
            <a:avLst/>
          </a:prstGeom>
          <a:solidFill>
            <a:srgbClr val="123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lide2_Picture_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0" y="1810000"/>
            <a:ext cx="320000" cy="3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1520" y="2340000"/>
            <a:ext cx="466448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Poppins"/>
              </a:defRPr>
            </a:pPr>
            <a:r>
              <a:t>[PROFILE-AWARE ENGINE]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Knows Your Exact Health Baseline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Holistic Health Profile: </a:t>
            </a:r>
            <a:r>
              <a:rPr sz="1200" b="0">
                <a:solidFill>
                  <a:srgbClr val="E2E8F0"/>
                </a:solidFill>
                <a:latin typeface="Poppins"/>
              </a:rPr>
              <a:t>NutriSense establishes an exhaustive biometric baseline: age, weight, height, activity level, and diagnosed chronic conditions (Diabetes, Hypertension, Digestive disorders).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Dynamic Goal Calibration: </a:t>
            </a:r>
            <a:r>
              <a:rPr sz="1200" b="0">
                <a:solidFill>
                  <a:srgbClr val="E2E8F0"/>
                </a:solidFill>
                <a:latin typeface="Poppins"/>
              </a:rPr>
              <a:t>Calibrates specific targets: Blood Sugar Stabilization, Visceral Fat Reduction, Lean Hypertrophy, or Gut Repair.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Never Blind Advice: </a:t>
            </a:r>
            <a:r>
              <a:rPr sz="1200" b="0">
                <a:solidFill>
                  <a:srgbClr val="E2E8F0"/>
                </a:solidFill>
                <a:latin typeface="Poppins"/>
              </a:rPr>
              <a:t>Every nutritional calculation and meal recommendation is dynamically filtered through the user's specific medical reality and 7-day logged history.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Multi-User Profiles: </a:t>
            </a:r>
            <a:r>
              <a:rPr sz="1200" b="0">
                <a:solidFill>
                  <a:srgbClr val="E2E8F0"/>
                </a:solidFill>
                <a:latin typeface="Poppins"/>
              </a:rPr>
              <a:t>Allows household caregivers to switch between family member profiles seamlessly on a single smartphone.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6000" y="1500000"/>
            <a:ext cx="518448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36000" y="1740000"/>
            <a:ext cx="460000" cy="460000"/>
          </a:xfrm>
          <a:prstGeom prst="roundRect">
            <a:avLst/>
          </a:prstGeom>
          <a:solidFill>
            <a:srgbClr val="38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lide4_Picture_10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000" y="1810000"/>
            <a:ext cx="320000" cy="3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6000" y="2340000"/>
            <a:ext cx="466448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CC224"/>
                </a:solidFill>
                <a:latin typeface="Poppins"/>
              </a:defRPr>
            </a:pPr>
            <a:r>
              <a:t>[SOUTH ASIAN FOOD INTELLIGENCE]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Local Meal Logging &amp; Smart Swaps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Culturally Native Metrics: </a:t>
            </a:r>
            <a:r>
              <a:rPr sz="1200" b="0">
                <a:solidFill>
                  <a:srgbClr val="E2E8F0"/>
                </a:solidFill>
                <a:latin typeface="Poppins"/>
              </a:rPr>
              <a:t>Tracks meals using intuitive Pakistani portion units: rotis, katoris of salan/daal, and tolas of meat, eliminating clumsy gram conversions.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Smart Healthy Swaps: </a:t>
            </a:r>
            <a:r>
              <a:rPr sz="1200" b="0">
                <a:solidFill>
                  <a:srgbClr val="E2E8F0"/>
                </a:solidFill>
                <a:latin typeface="Poppins"/>
              </a:rPr>
              <a:t>If a diabetic user logs or asks about high-risk dishes (Nihari, oily Biryani, Mithai), NutriSense immediately recommends lower-oil cooking methods and low-GI substitutes.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Zero Cultural Alienation: </a:t>
            </a:r>
            <a:r>
              <a:rPr sz="1200" b="0">
                <a:solidFill>
                  <a:srgbClr val="E2E8F0"/>
                </a:solidFill>
                <a:latin typeface="Poppins"/>
              </a:rPr>
              <a:t>Maintains the joy and warmth of Pakistani dining traditions while enforcing strict clinical dietary guardrails.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Barcode &amp; Plate Vision: </a:t>
            </a:r>
            <a:r>
              <a:rPr sz="1200" b="0">
                <a:solidFill>
                  <a:srgbClr val="E2E8F0"/>
                </a:solidFill>
                <a:latin typeface="Poppins"/>
              </a:rPr>
              <a:t>Scans local packaged items and breaks down composite home-cooked meals into granular nutrients.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20000"/>
            <a:ext cx="107289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B050"/>
                </a:solidFill>
                <a:latin typeface="Poppins"/>
              </a:defRPr>
            </a:pPr>
            <a:r>
              <a:rPr dirty="0"/>
              <a:t>Active Clinical Safety &amp; Bilingual Accessibility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0000"/>
            <a:ext cx="518448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1520" y="1740000"/>
            <a:ext cx="460000" cy="460000"/>
          </a:xfrm>
          <a:prstGeom prst="roundRect">
            <a:avLst/>
          </a:prstGeom>
          <a:solidFill>
            <a:srgbClr val="3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lide9_Picture_8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0" y="1810000"/>
            <a:ext cx="320000" cy="3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1520" y="2340000"/>
            <a:ext cx="466448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87171"/>
                </a:solidFill>
                <a:latin typeface="Poppins"/>
              </a:defRPr>
            </a:pPr>
            <a:r>
              <a:t>[ACUTE EMERGENCY PROTOCOL]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Active Red-Flag Alerts &amp; Hospital Care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Red-Flag Symptom Detection: </a:t>
            </a:r>
            <a:r>
              <a:rPr sz="1200" b="0">
                <a:solidFill>
                  <a:srgbClr val="E2E8F0"/>
                </a:solidFill>
                <a:latin typeface="Poppins"/>
              </a:rPr>
              <a:t>Detects severe clinical distress keywords: dizziness, fainting, hypoglycemia below 70 mg/dL, or extreme sugar spikes &gt;= 300 mg/dL.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High-Priority Interception: </a:t>
            </a:r>
            <a:r>
              <a:rPr sz="1200" b="0">
                <a:solidFill>
                  <a:srgbClr val="E2E8F0"/>
                </a:solidFill>
                <a:latin typeface="Poppins"/>
              </a:rPr>
              <a:t>Instantly interrupts standard conversation flow to display high-priority emergency medical protocols.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GPS Hospital Locator: </a:t>
            </a:r>
            <a:r>
              <a:rPr sz="1200" b="0">
                <a:solidFill>
                  <a:srgbClr val="E2E8F0"/>
                </a:solidFill>
                <a:latin typeface="Poppins"/>
              </a:rPr>
              <a:t>Guides the user to the nearest hospital or emergency clinic with one tap using integrated geolocation services.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Emergency Hypo Protocol: </a:t>
            </a:r>
            <a:r>
              <a:rPr sz="1200" b="0">
                <a:solidFill>
                  <a:srgbClr val="E2E8F0"/>
                </a:solidFill>
                <a:latin typeface="Poppins"/>
              </a:rPr>
              <a:t>Provides immediate step-by-step guidance on consuming fast-acting simple carbohydrates (15g rule) to avert coma.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6000" y="1500000"/>
            <a:ext cx="518448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36000" y="1740000"/>
            <a:ext cx="460000" cy="460000"/>
          </a:xfrm>
          <a:prstGeom prst="roundRect">
            <a:avLst/>
          </a:prstGeom>
          <a:solidFill>
            <a:srgbClr val="1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lide11_Picture_10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000" y="1810000"/>
            <a:ext cx="320000" cy="3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6000" y="2340000"/>
            <a:ext cx="466448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BCD4"/>
                </a:solidFill>
                <a:latin typeface="Poppins"/>
              </a:defRPr>
            </a:pPr>
            <a:r>
              <a:t>[VOICE &amp; TEXT INCLUSION]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True Bilingual Experience (Urdu &amp; English)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Complete Bilingual Interface: </a:t>
            </a:r>
            <a:r>
              <a:rPr sz="1200" b="0">
                <a:solidFill>
                  <a:srgbClr val="E2E8F0"/>
                </a:solidFill>
                <a:latin typeface="Poppins"/>
              </a:rPr>
              <a:t>Fully localized in both Urdu and English across every screen, button, meal log, and clinical output.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Neural Pakistani Urdu Voice: </a:t>
            </a:r>
            <a:r>
              <a:rPr sz="1200" b="0">
                <a:solidFill>
                  <a:srgbClr val="E2E8F0"/>
                </a:solidFill>
                <a:latin typeface="Poppins"/>
              </a:rPr>
              <a:t>Hands-free conversational voice engine powered by Microsoft Neural Pakistani Urdu voices (ur-PK-UzmaNeural).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Speech-to-Text &amp; Fallback: </a:t>
            </a:r>
            <a:r>
              <a:rPr sz="1200" b="0">
                <a:solidFill>
                  <a:srgbClr val="E2E8F0"/>
                </a:solidFill>
                <a:latin typeface="Poppins"/>
              </a:rPr>
              <a:t>Seamless voice input and on-device offline audio playback, ensuring effortless operation for illiterate or elderly users.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Democratizing Health Access: </a:t>
            </a:r>
            <a:r>
              <a:rPr sz="1200" b="0">
                <a:solidFill>
                  <a:srgbClr val="E2E8F0"/>
                </a:solidFill>
                <a:latin typeface="Poppins"/>
              </a:rPr>
              <a:t>Puts an empathetic, professional nutritionist directly into the hands of every homemaker and family across Pakistan.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20000"/>
            <a:ext cx="107289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B050"/>
                </a:solidFill>
                <a:latin typeface="Poppins"/>
              </a:defRPr>
            </a:pPr>
            <a:r>
              <a:rPr dirty="0"/>
              <a:t>Audience Served: Tailored for Real Lives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0000"/>
            <a:ext cx="337632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1520" y="1740000"/>
            <a:ext cx="460000" cy="460000"/>
          </a:xfrm>
          <a:prstGeom prst="roundRect">
            <a:avLst/>
          </a:prstGeom>
          <a:solidFill>
            <a:srgbClr val="3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lide4_Picture_6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0" y="1810000"/>
            <a:ext cx="320000" cy="3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1520" y="2340000"/>
            <a:ext cx="285632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87171"/>
                </a:solidFill>
                <a:latin typeface="Poppins"/>
              </a:defRPr>
            </a:pPr>
            <a:r>
              <a:t>[CLINICAL MANAGEMENT]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Chronic Illness Patients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Diabetic Guardianship: </a:t>
            </a:r>
            <a:r>
              <a:rPr sz="1200" b="0">
                <a:solidFill>
                  <a:srgbClr val="E2E8F0"/>
                </a:solidFill>
                <a:latin typeface="Poppins"/>
              </a:rPr>
              <a:t>Keeps blood sugar curves smooth through strict carb-portion limits on local staples.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Hypertension Control: </a:t>
            </a:r>
            <a:r>
              <a:rPr sz="1200" b="0">
                <a:solidFill>
                  <a:srgbClr val="E2E8F0"/>
                </a:solidFill>
                <a:latin typeface="Poppins"/>
              </a:rPr>
              <a:t>Filters out high-sodium foods and dangerous salt substitutes.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Preventative Peace of Mind: </a:t>
            </a:r>
            <a:r>
              <a:rPr sz="1200" b="0">
                <a:solidFill>
                  <a:srgbClr val="E2E8F0"/>
                </a:solidFill>
                <a:latin typeface="Poppins"/>
              </a:rPr>
              <a:t>Safely prevents dietary mistakes before they manifest as critical health complications.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840" y="1500000"/>
            <a:ext cx="337632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67840" y="1740000"/>
            <a:ext cx="460000" cy="460000"/>
          </a:xfrm>
          <a:prstGeom prst="roundRect">
            <a:avLst/>
          </a:prstGeom>
          <a:solidFill>
            <a:srgbClr val="123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lide10_Picture_10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840" y="1810000"/>
            <a:ext cx="320000" cy="3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7840" y="2340000"/>
            <a:ext cx="285632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Poppins"/>
              </a:defRPr>
            </a:pPr>
            <a:r>
              <a:t>[METABOLIC FITNESS]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Everyday Goal Seekers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Fat Loss Seekers: </a:t>
            </a:r>
            <a:r>
              <a:rPr sz="1200" b="0">
                <a:solidFill>
                  <a:srgbClr val="E2E8F0"/>
                </a:solidFill>
                <a:latin typeface="Poppins"/>
              </a:rPr>
              <a:t>Calculates sustainable caloric deficits with tasty home-cooked Pakistani meals.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Muscle Builders: </a:t>
            </a:r>
            <a:r>
              <a:rPr sz="1200" b="0">
                <a:solidFill>
                  <a:srgbClr val="E2E8F0"/>
                </a:solidFill>
                <a:latin typeface="Poppins"/>
              </a:rPr>
              <a:t>High-protein meal planning tailored to affordable local grocery items.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Digestive Healing: </a:t>
            </a:r>
            <a:r>
              <a:rPr sz="1200" b="0">
                <a:solidFill>
                  <a:srgbClr val="E2E8F0"/>
                </a:solidFill>
                <a:latin typeface="Poppins"/>
              </a:rPr>
              <a:t>Gentle food combinations to resolve chronic acid reflux and gastritis permanently.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4160" y="1500000"/>
            <a:ext cx="337632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344160" y="1740000"/>
            <a:ext cx="460000" cy="460000"/>
          </a:xfrm>
          <a:prstGeom prst="roundRect">
            <a:avLst/>
          </a:prstGeom>
          <a:solidFill>
            <a:srgbClr val="1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lide2_Picture_9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4160" y="1810000"/>
            <a:ext cx="320000" cy="32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44160" y="2340000"/>
            <a:ext cx="285632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BCD4"/>
                </a:solidFill>
                <a:latin typeface="Poppins"/>
              </a:defRPr>
            </a:pPr>
            <a:r>
              <a:t>[HOUSEHOLD HARMONY]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Multi-Gen Households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Family Profile Switcher: </a:t>
            </a:r>
            <a:r>
              <a:rPr sz="1200" b="0">
                <a:solidFill>
                  <a:srgbClr val="E2E8F0"/>
                </a:solidFill>
                <a:latin typeface="Poppins"/>
              </a:rPr>
              <a:t>Manage Abu's diabetes, Ammi's blood pressure, and children's fitness on one device.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Homemaker Guidance: </a:t>
            </a:r>
            <a:r>
              <a:rPr sz="1200" b="0">
                <a:solidFill>
                  <a:srgbClr val="E2E8F0"/>
                </a:solidFill>
                <a:latin typeface="Poppins"/>
              </a:rPr>
              <a:t>Teaches mothers how to season and cook shared pots safely for all health requirements.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Voice-Guided Inclusivity: </a:t>
            </a:r>
            <a:r>
              <a:rPr sz="1200" b="0">
                <a:solidFill>
                  <a:srgbClr val="E2E8F0"/>
                </a:solidFill>
                <a:latin typeface="Poppins"/>
              </a:rPr>
              <a:t>Grandparents and elders interact naturally in spoken Urdu without digital friction.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2018" y="2813447"/>
            <a:ext cx="10827657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0"/>
              </a:spcAft>
              <a:defRPr sz="8000" b="1">
                <a:solidFill>
                  <a:srgbClr val="00BCD4"/>
                </a:solidFill>
                <a:latin typeface="Poppins"/>
              </a:defRPr>
            </a:pPr>
            <a:r>
              <a:rPr dirty="0"/>
              <a:t>NEED &amp; IMPACT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20000"/>
            <a:ext cx="107289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B050"/>
                </a:solidFill>
                <a:latin typeface="Poppins"/>
              </a:defRPr>
            </a:pPr>
            <a:r>
              <a:rPr dirty="0"/>
              <a:t>Healthcare Accessibility &amp; Crisis Interception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0000"/>
            <a:ext cx="518448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1520" y="1740000"/>
            <a:ext cx="460000" cy="460000"/>
          </a:xfrm>
          <a:prstGeom prst="roundRect">
            <a:avLst/>
          </a:prstGeom>
          <a:solidFill>
            <a:srgbClr val="1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lide15_Picture_10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0" y="1810000"/>
            <a:ext cx="320000" cy="3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1520" y="2340000"/>
            <a:ext cx="466448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BCD4"/>
                </a:solidFill>
                <a:latin typeface="Poppins"/>
              </a:defRPr>
            </a:pPr>
            <a:r>
              <a:t>[ZERO-COST 24/7 CONSULTATION]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Democratizing Nutrition Consultation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Luxury to Public Right: </a:t>
            </a:r>
            <a:r>
              <a:rPr sz="1200" b="0">
                <a:solidFill>
                  <a:srgbClr val="E2E8F0"/>
                </a:solidFill>
                <a:latin typeface="Poppins"/>
              </a:rPr>
              <a:t>Private clinical nutritionists in Pakistan charge Rs. 3,000 - 8,000 per visit, making quality guidance an unattainable luxury for most.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Urban Concentration: </a:t>
            </a:r>
            <a:r>
              <a:rPr sz="1200" b="0">
                <a:solidFill>
                  <a:srgbClr val="E2E8F0"/>
                </a:solidFill>
                <a:latin typeface="Poppins"/>
              </a:rPr>
              <a:t>Over 90% of certified dietitians are concentrated in elite hospitals of major urban centers, abandoning rural and semi-urban populations.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24/7 Pocket Nutritionist: </a:t>
            </a:r>
            <a:r>
              <a:rPr sz="1200" b="0">
                <a:solidFill>
                  <a:srgbClr val="E2E8F0"/>
                </a:solidFill>
                <a:latin typeface="Poppins"/>
              </a:rPr>
              <a:t>NutriSense puts an expert, empathetic clinical nutritionist in every smartphone completely free.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Continuous Care: </a:t>
            </a:r>
            <a:r>
              <a:rPr sz="1200" b="0">
                <a:solidFill>
                  <a:srgbClr val="E2E8F0"/>
                </a:solidFill>
                <a:latin typeface="Poppins"/>
              </a:rPr>
              <a:t>Provides instant feedback after every meal instead of waiting weeks for an expensive follow-up visit.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6000" y="1500000"/>
            <a:ext cx="518448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36000" y="1740000"/>
            <a:ext cx="460000" cy="460000"/>
          </a:xfrm>
          <a:prstGeom prst="roundRect">
            <a:avLst/>
          </a:prstGeom>
          <a:solidFill>
            <a:srgbClr val="3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lide9_Picture_8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000" y="1810000"/>
            <a:ext cx="320000" cy="3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6000" y="2340000"/>
            <a:ext cx="466448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87171"/>
                </a:solidFill>
                <a:latin typeface="Poppins"/>
              </a:defRPr>
            </a:pPr>
            <a:r>
              <a:t>[PRE-HOSPITAL DEFENSE]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Preventing Crises Before Hospitalization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Intercepting Fatal Decisions: </a:t>
            </a:r>
            <a:r>
              <a:rPr sz="1200" b="0">
                <a:solidFill>
                  <a:srgbClr val="E2E8F0"/>
                </a:solidFill>
                <a:latin typeface="Poppins"/>
              </a:rPr>
              <a:t>Proactively intercepts risky meal combinations before they trigger severe medical emergencies.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Avoiding ER Admissions: </a:t>
            </a:r>
            <a:r>
              <a:rPr sz="1200" b="0">
                <a:solidFill>
                  <a:srgbClr val="E2E8F0"/>
                </a:solidFill>
                <a:latin typeface="Poppins"/>
              </a:rPr>
              <a:t>Directly prevents acute hypoglycemic fainting, diabetic ketoacidosis, and hypertensive crises before ER visits.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Alleviating Hospital Burden: </a:t>
            </a:r>
            <a:r>
              <a:rPr sz="1200" b="0">
                <a:solidFill>
                  <a:srgbClr val="E2E8F0"/>
                </a:solidFill>
                <a:latin typeface="Poppins"/>
              </a:rPr>
              <a:t>Public tertiary hospitals in Pakistan are critically overwhelmed; preventative nutrition stops emergencies at the kitchen table.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Life-Saving Impact: </a:t>
            </a:r>
            <a:r>
              <a:rPr sz="1200" b="0">
                <a:solidFill>
                  <a:srgbClr val="E2E8F0"/>
                </a:solidFill>
                <a:latin typeface="Poppins"/>
              </a:rPr>
              <a:t>Saves lives and shields families from catastrophic out-of-pocket emergency hospital expenses.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20000"/>
            <a:ext cx="107289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B050"/>
                </a:solidFill>
                <a:latin typeface="Poppins"/>
              </a:defRPr>
            </a:pPr>
            <a:r>
              <a:rPr dirty="0"/>
              <a:t>Personalized Goals &amp; Nationwide Health Inclusion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0000"/>
            <a:ext cx="518448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1520" y="1740000"/>
            <a:ext cx="460000" cy="460000"/>
          </a:xfrm>
          <a:prstGeom prst="roundRect">
            <a:avLst/>
          </a:prstGeom>
          <a:solidFill>
            <a:srgbClr val="123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lide10_Picture_10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0" y="1810000"/>
            <a:ext cx="320000" cy="3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1520" y="2340000"/>
            <a:ext cx="466448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Poppins"/>
              </a:defRPr>
            </a:pPr>
            <a:r>
              <a:t>[ADAPTIVE METABOLIC ARCHITECTURE]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Supporting Medical &amp; Fitness Goals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Dual-Spectrum Capability: </a:t>
            </a:r>
            <a:r>
              <a:rPr sz="1200" b="0">
                <a:solidFill>
                  <a:srgbClr val="E2E8F0"/>
                </a:solidFill>
                <a:latin typeface="Poppins"/>
              </a:rPr>
              <a:t>Fluidly unifies chronic disease management with aspirational athletic goals in a single cohesive engine.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Reversing Pre-Diabetes: </a:t>
            </a:r>
            <a:r>
              <a:rPr sz="1200" b="0">
                <a:solidFill>
                  <a:srgbClr val="E2E8F0"/>
                </a:solidFill>
                <a:latin typeface="Poppins"/>
              </a:rPr>
              <a:t>Optimizes insulin sensitivity through dynamic glycemic load management and post-meal activity.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Visceral Fat Elimination: </a:t>
            </a:r>
            <a:r>
              <a:rPr sz="1200" b="0">
                <a:solidFill>
                  <a:srgbClr val="E2E8F0"/>
                </a:solidFill>
                <a:latin typeface="Poppins"/>
              </a:rPr>
              <a:t>Creates sustainable caloric deficits without depleting vital energy or muscle mass.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Dynamic Daily Recalibration: </a:t>
            </a:r>
            <a:r>
              <a:rPr sz="1200" b="0">
                <a:solidFill>
                  <a:srgbClr val="E2E8F0"/>
                </a:solidFill>
                <a:latin typeface="Poppins"/>
              </a:rPr>
              <a:t>Macros, caloric ceilings, and hydration targets dynamically rebalance based on real-world logging.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6000" y="1500000"/>
            <a:ext cx="518448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36000" y="1740000"/>
            <a:ext cx="460000" cy="460000"/>
          </a:xfrm>
          <a:prstGeom prst="roundRect">
            <a:avLst/>
          </a:prstGeom>
          <a:solidFill>
            <a:srgbClr val="38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lide6_Picture_14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000" y="1810000"/>
            <a:ext cx="320000" cy="3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6000" y="2340000"/>
            <a:ext cx="466448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CC224"/>
                </a:solidFill>
                <a:latin typeface="Poppins"/>
              </a:defRPr>
            </a:pPr>
            <a:r>
              <a:t>[NATIONWIDE SOCIAL REACH]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Inclusivity &amp; National Impact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Empowering Homemakers: </a:t>
            </a:r>
            <a:r>
              <a:rPr sz="1200" b="0">
                <a:solidFill>
                  <a:srgbClr val="E2E8F0"/>
                </a:solidFill>
                <a:latin typeface="Poppins"/>
              </a:rPr>
              <a:t>Equips mothers and domestic cooks with spoken, actionable guidance on healthier traditional cooking.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Bridging Literacy Barriers: </a:t>
            </a:r>
            <a:r>
              <a:rPr sz="1200" b="0">
                <a:solidFill>
                  <a:srgbClr val="E2E8F0"/>
                </a:solidFill>
                <a:latin typeface="Poppins"/>
              </a:rPr>
              <a:t>Audio voice interface enables individuals with limited literacy to maintain clinical health autonomy.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Preventing Generational Disease: </a:t>
            </a:r>
            <a:r>
              <a:rPr sz="1200" b="0">
                <a:solidFill>
                  <a:srgbClr val="E2E8F0"/>
                </a:solidFill>
                <a:latin typeface="Poppins"/>
              </a:rPr>
              <a:t>By fixing the shared family cooking pot, NutriSense breaks the intergenerational cycle of obesity and diabetes.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National Health Sovereignity: </a:t>
            </a:r>
            <a:r>
              <a:rPr sz="1200" b="0">
                <a:solidFill>
                  <a:srgbClr val="E2E8F0"/>
                </a:solidFill>
                <a:latin typeface="Poppins"/>
              </a:rPr>
              <a:t>A digital health platform engineered natively for Pakistan's specific culinary and demographic reality.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2018" y="2813447"/>
            <a:ext cx="10827657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0"/>
              </a:spcAft>
              <a:defRPr sz="8000" b="1">
                <a:solidFill>
                  <a:srgbClr val="00BCD4"/>
                </a:solidFill>
                <a:latin typeface="Poppins"/>
              </a:defRPr>
            </a:pPr>
            <a:r>
              <a:rPr dirty="0"/>
              <a:t>INNOVATION &amp; TECH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20000"/>
            <a:ext cx="107289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B050"/>
                </a:solidFill>
                <a:latin typeface="Poppins"/>
              </a:defRPr>
            </a:pPr>
            <a:r>
              <a:rPr dirty="0"/>
              <a:t>Dual-Agent Clinical Safety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50000"/>
            <a:ext cx="10728960" cy="1450000"/>
          </a:xfrm>
          <a:prstGeom prst="roundRect">
            <a:avLst/>
          </a:prstGeom>
          <a:solidFill>
            <a:srgbClr val="162138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81520" y="1650000"/>
            <a:ext cx="2100000" cy="1050000"/>
          </a:xfrm>
          <a:prstGeom prst="roundRect">
            <a:avLst/>
          </a:prstGeom>
          <a:solidFill>
            <a:srgbClr val="1232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1520" y="1830000"/>
            <a:ext cx="1900000" cy="6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50" b="1">
                <a:solidFill>
                  <a:srgbClr val="FFFFFF"/>
                </a:solidFill>
                <a:latin typeface="Poppins"/>
              </a:defRPr>
            </a:pPr>
            <a:r>
              <a:t>User Query &amp; History</a:t>
            </a:r>
          </a:p>
          <a:p>
            <a:pPr algn="ctr">
              <a:defRPr sz="1000">
                <a:solidFill>
                  <a:srgbClr val="E2E8F0"/>
                </a:solidFill>
                <a:latin typeface="Poppins"/>
              </a:defRPr>
            </a:pPr>
            <a:r>
              <a:t>Biometrics + 7-Day Intake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41520" y="2030000"/>
            <a:ext cx="300000" cy="1500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01520" y="1650000"/>
            <a:ext cx="2100000" cy="1050000"/>
          </a:xfrm>
          <a:prstGeom prst="roundRect">
            <a:avLst/>
          </a:prstGeom>
          <a:solidFill>
            <a:srgbClr val="103040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1520" y="1830000"/>
            <a:ext cx="1900000" cy="6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50" b="1">
                <a:solidFill>
                  <a:srgbClr val="FFFFFF"/>
                </a:solidFill>
                <a:latin typeface="Poppins"/>
              </a:defRPr>
            </a:pPr>
            <a:r>
              <a:t>Agent 1: AI Coach</a:t>
            </a:r>
          </a:p>
          <a:p>
            <a:pPr algn="ctr">
              <a:defRPr sz="1000">
                <a:solidFill>
                  <a:srgbClr val="E2E8F0"/>
                </a:solidFill>
                <a:latin typeface="Poppins"/>
              </a:defRPr>
            </a:pPr>
            <a:r>
              <a:t>Generates Personalized Advice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61520" y="2030000"/>
            <a:ext cx="300000" cy="150000"/>
          </a:xfrm>
          <a:prstGeom prst="right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21520" y="1650000"/>
            <a:ext cx="2100000" cy="1050000"/>
          </a:xfrm>
          <a:prstGeom prst="roundRect">
            <a:avLst/>
          </a:prstGeom>
          <a:solidFill>
            <a:srgbClr val="3A1C20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21520" y="1830000"/>
            <a:ext cx="1900000" cy="6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50" b="1">
                <a:solidFill>
                  <a:srgbClr val="FFFFFF"/>
                </a:solidFill>
                <a:latin typeface="Poppins"/>
              </a:defRPr>
            </a:pPr>
            <a:r>
              <a:t>Agent 2: Evaluator</a:t>
            </a:r>
          </a:p>
          <a:p>
            <a:pPr algn="ctr">
              <a:defRPr sz="1000">
                <a:solidFill>
                  <a:srgbClr val="E2E8F0"/>
                </a:solidFill>
                <a:latin typeface="Poppins"/>
              </a:defRPr>
            </a:pPr>
            <a:r>
              <a:t>Cross-Examines Safety &amp; Risks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81520" y="2030000"/>
            <a:ext cx="300000" cy="150000"/>
          </a:xfrm>
          <a:prstGeom prst="rightArrow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41520" y="1650000"/>
            <a:ext cx="2100000" cy="1050000"/>
          </a:xfrm>
          <a:prstGeom prst="roundRect">
            <a:avLst/>
          </a:prstGeom>
          <a:solidFill>
            <a:srgbClr val="382C14"/>
          </a:solidFill>
          <a:ln w="19050">
            <a:solidFill>
              <a:srgbClr val="FCC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41520" y="1830000"/>
            <a:ext cx="1900000" cy="6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50" b="1">
                <a:solidFill>
                  <a:srgbClr val="FFFFFF"/>
                </a:solidFill>
                <a:latin typeface="Poppins"/>
              </a:defRPr>
            </a:pPr>
            <a:r>
              <a:t>Safe Clinical Output</a:t>
            </a:r>
          </a:p>
          <a:p>
            <a:pPr algn="ctr">
              <a:defRPr sz="1000">
                <a:solidFill>
                  <a:srgbClr val="E2E8F0"/>
                </a:solidFill>
                <a:latin typeface="Poppins"/>
              </a:defRPr>
            </a:pPr>
            <a:r>
              <a:t>Verified Advice &amp; Warnings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00000"/>
            <a:ext cx="5184480" cy="3418787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91520" y="3340000"/>
            <a:ext cx="460000" cy="460000"/>
          </a:xfrm>
          <a:prstGeom prst="roundRect">
            <a:avLst/>
          </a:prstGeom>
          <a:solidFill>
            <a:srgbClr val="123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lide13_Picture_10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0" y="3410000"/>
            <a:ext cx="320000" cy="32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91520" y="3940000"/>
            <a:ext cx="4924480" cy="23903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Poppins"/>
              </a:defRPr>
            </a:pPr>
            <a:r>
              <a:rPr dirty="0"/>
              <a:t>[AGENT 1: GENERATIVE SPECIALIST]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rPr dirty="0"/>
              <a:t>Agent 1: Contextual AI Nutrition Coach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0BCD4"/>
                </a:solidFill>
                <a:latin typeface="Poppins"/>
              </a:rPr>
              <a:t>Role &amp; Objective: </a:t>
            </a:r>
            <a:r>
              <a:rPr sz="1200" b="0" dirty="0">
                <a:solidFill>
                  <a:srgbClr val="E2E8F0"/>
                </a:solidFill>
                <a:latin typeface="Poppins"/>
              </a:rPr>
              <a:t>Synthesizes tailored, empathetic dietary recommendations grounded in user biometrics and culinary preferences.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0BCD4"/>
                </a:solidFill>
                <a:latin typeface="Poppins"/>
              </a:rPr>
              <a:t>Context Ingestion: </a:t>
            </a:r>
            <a:r>
              <a:rPr sz="1200" b="0" dirty="0">
                <a:solidFill>
                  <a:srgbClr val="E2E8F0"/>
                </a:solidFill>
                <a:latin typeface="Poppins"/>
              </a:rPr>
              <a:t>Ingests live medical baseline (age, conditions, allergies) alongside complete 7-day nutritional intake logs.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0BCD4"/>
                </a:solidFill>
                <a:latin typeface="Poppins"/>
              </a:rPr>
              <a:t>Cultural Synthesis: </a:t>
            </a:r>
            <a:r>
              <a:rPr sz="1200" b="0" dirty="0">
                <a:solidFill>
                  <a:srgbClr val="E2E8F0"/>
                </a:solidFill>
                <a:latin typeface="Poppins"/>
              </a:rPr>
              <a:t>Translates raw macro formulas into authentic, delicious Pakistani meal plans (</a:t>
            </a:r>
            <a:r>
              <a:rPr sz="1200" b="0" dirty="0" err="1">
                <a:solidFill>
                  <a:srgbClr val="E2E8F0"/>
                </a:solidFill>
                <a:latin typeface="Poppins"/>
              </a:rPr>
              <a:t>daal</a:t>
            </a:r>
            <a:r>
              <a:rPr sz="1200" b="0" dirty="0">
                <a:solidFill>
                  <a:srgbClr val="E2E8F0"/>
                </a:solidFill>
                <a:latin typeface="Poppins"/>
              </a:rPr>
              <a:t>, roti, sabzi, chicken).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6000" y="3099999"/>
            <a:ext cx="5184480" cy="3418787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36000" y="3340000"/>
            <a:ext cx="460000" cy="460000"/>
          </a:xfrm>
          <a:prstGeom prst="roundRect">
            <a:avLst/>
          </a:prstGeom>
          <a:solidFill>
            <a:srgbClr val="3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slide6_Picture_10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000" y="3410000"/>
            <a:ext cx="320000" cy="32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35999" y="3940000"/>
            <a:ext cx="4790761" cy="23903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87171"/>
                </a:solidFill>
                <a:latin typeface="Poppins"/>
              </a:defRPr>
            </a:pPr>
            <a:r>
              <a:rPr dirty="0"/>
              <a:t>[AGENT 2: CLINICAL RISK AUDITOR]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rPr dirty="0"/>
              <a:t>Agent 2: Independent Safety Evaluator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0BCD4"/>
                </a:solidFill>
                <a:latin typeface="Poppins"/>
              </a:rPr>
              <a:t>Strict Isolation: </a:t>
            </a:r>
            <a:r>
              <a:rPr sz="1200" b="0" dirty="0">
                <a:solidFill>
                  <a:srgbClr val="E2E8F0"/>
                </a:solidFill>
                <a:latin typeface="Poppins"/>
              </a:rPr>
              <a:t>Operates as a completely decoupled supervisor agent to audit Agent 1's draft before delivery to the user.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0BCD4"/>
                </a:solidFill>
                <a:latin typeface="Poppins"/>
              </a:rPr>
              <a:t>Contraindication Filter: </a:t>
            </a:r>
            <a:r>
              <a:rPr sz="1200" b="0" dirty="0">
                <a:solidFill>
                  <a:srgbClr val="E2E8F0"/>
                </a:solidFill>
                <a:latin typeface="Poppins"/>
              </a:rPr>
              <a:t>Cross-checks advice against medical rules: flags glycemic spikes for diabetics and sodium hazards for BP patients.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0BCD4"/>
                </a:solidFill>
                <a:latin typeface="Poppins"/>
              </a:rPr>
              <a:t>Enforcing Safeguards: </a:t>
            </a:r>
            <a:r>
              <a:rPr sz="1200" b="0" dirty="0">
                <a:solidFill>
                  <a:srgbClr val="E2E8F0"/>
                </a:solidFill>
                <a:latin typeface="Poppins"/>
              </a:rPr>
              <a:t>Automatically amends unsafe responses, injects clinical warnings, and triggers emergency protocols if necessary.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20000"/>
            <a:ext cx="107289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B050"/>
                </a:solidFill>
                <a:latin typeface="Poppins"/>
              </a:defRPr>
            </a:pPr>
            <a:r>
              <a:rPr dirty="0"/>
              <a:t>Sub-50ms Safety Scanner &amp; Neural Voice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0000"/>
            <a:ext cx="518448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1520" y="1740000"/>
            <a:ext cx="460000" cy="460000"/>
          </a:xfrm>
          <a:prstGeom prst="roundRect">
            <a:avLst/>
          </a:prstGeom>
          <a:solidFill>
            <a:srgbClr val="3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lide9_Picture_8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0" y="1810000"/>
            <a:ext cx="320000" cy="3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1520" y="2340000"/>
            <a:ext cx="466448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87171"/>
                </a:solidFill>
                <a:latin typeface="Poppins"/>
              </a:defRPr>
            </a:pPr>
            <a:r>
              <a:t>[SUB-50MS DETERMINISTIC SCAN]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Heuristic Emergency Fast-Scanner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Deterministic Execution: </a:t>
            </a:r>
            <a:r>
              <a:rPr sz="1200" b="0">
                <a:solidFill>
                  <a:srgbClr val="E2E8F0"/>
                </a:solidFill>
                <a:latin typeface="Poppins"/>
              </a:rPr>
              <a:t>Executes lightning-fast regex and pattern-matching in under 50ms before any LLM inference occurs.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Critical Trigger Keywords: </a:t>
            </a:r>
            <a:r>
              <a:rPr sz="1200" b="0">
                <a:solidFill>
                  <a:srgbClr val="E2E8F0"/>
                </a:solidFill>
                <a:latin typeface="Poppins"/>
              </a:rPr>
              <a:t>Monitors for acute medical distress keywords: chest pain, severe dizziness, fainting, hypoglycemia &lt; 70, spikes &gt;= 300 mg/dL.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Zero Hallucination: </a:t>
            </a:r>
            <a:r>
              <a:rPr sz="1200" b="0">
                <a:solidFill>
                  <a:srgbClr val="E2E8F0"/>
                </a:solidFill>
                <a:latin typeface="Poppins"/>
              </a:rPr>
              <a:t>Bypasses generative models entirely during life-or-death situations to eliminate any risk of AI hallucination.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Instant Escalation: </a:t>
            </a:r>
            <a:r>
              <a:rPr sz="1200" b="0">
                <a:solidFill>
                  <a:srgbClr val="E2E8F0"/>
                </a:solidFill>
                <a:latin typeface="Poppins"/>
              </a:rPr>
              <a:t>Triggers high-priority emergency alerts and provides one-tap GPS hospital navigation to the nearest clinic.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6000" y="1500000"/>
            <a:ext cx="518448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36000" y="1740000"/>
            <a:ext cx="460000" cy="460000"/>
          </a:xfrm>
          <a:prstGeom prst="roundRect">
            <a:avLst/>
          </a:prstGeom>
          <a:solidFill>
            <a:srgbClr val="1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lide11_Picture_10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000" y="1810000"/>
            <a:ext cx="320000" cy="3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6000" y="2340000"/>
            <a:ext cx="466448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BCD4"/>
                </a:solidFill>
                <a:latin typeface="Poppins"/>
              </a:defRPr>
            </a:pPr>
            <a:r>
              <a:t>[3-TIER VOICE PIPELINE]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Multilingual Neural Voice Engine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Neural Speech Synthesis: </a:t>
            </a:r>
            <a:r>
              <a:rPr sz="1200" b="0">
                <a:solidFill>
                  <a:srgbClr val="E2E8F0"/>
                </a:solidFill>
                <a:latin typeface="Poppins"/>
              </a:rPr>
              <a:t>Integrates Microsoft Neural Pakistani Urdu voices (ur-PK-UzmaNeural) for warm, authentic regional pronunciation.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Automated Text Sanitization: </a:t>
            </a:r>
            <a:r>
              <a:rPr sz="1200" b="0">
                <a:solidFill>
                  <a:srgbClr val="E2E8F0"/>
                </a:solidFill>
                <a:latin typeface="Poppins"/>
              </a:rPr>
              <a:t>Custom regex pre-processor strips Markdown asterisks, headers, bullets, and emojis before feeding text to the TTS engine.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On-Device Offline Fallback: </a:t>
            </a:r>
            <a:r>
              <a:rPr sz="1200" b="0">
                <a:solidFill>
                  <a:srgbClr val="E2E8F0"/>
                </a:solidFill>
                <a:latin typeface="Poppins"/>
              </a:rPr>
              <a:t>Includes local speech synthesis fallbacks to maintain voice coaching during mobile network drops.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Hands-Free Voice Mode: </a:t>
            </a:r>
            <a:r>
              <a:rPr sz="1200" b="0">
                <a:solidFill>
                  <a:srgbClr val="E2E8F0"/>
                </a:solidFill>
                <a:latin typeface="Poppins"/>
              </a:rPr>
              <a:t>Full conversational voice interface allows homemakers to log meals hands-free while cooking.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20000"/>
            <a:ext cx="107289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B050"/>
                </a:solidFill>
                <a:latin typeface="Poppins"/>
              </a:defRPr>
            </a:pPr>
            <a:r>
              <a:rPr dirty="0"/>
              <a:t>Condition-Constrained Exercise &amp; Macro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0000"/>
            <a:ext cx="518448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1520" y="1740000"/>
            <a:ext cx="460000" cy="460000"/>
          </a:xfrm>
          <a:prstGeom prst="roundRect">
            <a:avLst/>
          </a:prstGeom>
          <a:solidFill>
            <a:srgbClr val="123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lide10_Picture_10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0" y="1810000"/>
            <a:ext cx="320000" cy="3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1520" y="2340000"/>
            <a:ext cx="466448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Poppins"/>
              </a:defRPr>
            </a:pPr>
            <a:r>
              <a:t>[CONDITION-AWARE WORKOUTS]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Medical Exercise Calibration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Clinical Biomechanics: </a:t>
            </a:r>
            <a:r>
              <a:rPr sz="1200" b="0">
                <a:solidFill>
                  <a:srgbClr val="E2E8F0"/>
                </a:solidFill>
                <a:latin typeface="Poppins"/>
              </a:rPr>
              <a:t>Workouts engineered around clinical boundaries rather than generic gym templates.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Diabetic Glucose Disposal: </a:t>
            </a:r>
            <a:r>
              <a:rPr sz="1200" b="0">
                <a:solidFill>
                  <a:srgbClr val="E2E8F0"/>
                </a:solidFill>
                <a:latin typeface="Poppins"/>
              </a:rPr>
              <a:t>Prescribes structured 15-20 minute post-meal walks timed precisely to blunt glycemic curves.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Hypertension Precautions: </a:t>
            </a:r>
            <a:r>
              <a:rPr sz="1200" b="0">
                <a:solidFill>
                  <a:srgbClr val="E2E8F0"/>
                </a:solidFill>
                <a:latin typeface="Poppins"/>
              </a:rPr>
              <a:t>Strictly eliminates heavy isometric breath-holding strain (Valsalva) that causes dangerous blood pressure spikes.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Joint-Friendly Routines: </a:t>
            </a:r>
            <a:r>
              <a:rPr sz="1200" b="0">
                <a:solidFill>
                  <a:srgbClr val="E2E8F0"/>
                </a:solidFill>
                <a:latin typeface="Poppins"/>
              </a:rPr>
              <a:t>Provides low-impact home bodyweight splits for overweight and arthritic individuals.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6000" y="1500000"/>
            <a:ext cx="5184480" cy="485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36000" y="1740000"/>
            <a:ext cx="460000" cy="460000"/>
          </a:xfrm>
          <a:prstGeom prst="roundRect">
            <a:avLst/>
          </a:prstGeom>
          <a:solidFill>
            <a:srgbClr val="38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lide8_Picture_10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000" y="1810000"/>
            <a:ext cx="320000" cy="3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6000" y="2340000"/>
            <a:ext cx="4664480" cy="37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CC224"/>
                </a:solidFill>
                <a:latin typeface="Poppins"/>
              </a:defRPr>
            </a:pPr>
            <a:r>
              <a:t>[DYNAMIC NUTRITIONAL MATH]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Dynamic Metabolic Macro Engine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Adaptive Macro Ratios: </a:t>
            </a:r>
            <a:r>
              <a:rPr sz="1200" b="0">
                <a:solidFill>
                  <a:srgbClr val="E2E8F0"/>
                </a:solidFill>
                <a:latin typeface="Poppins"/>
              </a:rPr>
              <a:t>Dynamically redistributes carbs, protein, and fat based on daily glycemic tolerance and activity.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Insulin Sensitivity Tuning: </a:t>
            </a:r>
            <a:r>
              <a:rPr sz="1200" b="0">
                <a:solidFill>
                  <a:srgbClr val="E2E8F0"/>
                </a:solidFill>
                <a:latin typeface="Poppins"/>
              </a:rPr>
              <a:t>Keeps carbohydrate intake strictly within safe therapeutic windows for pre-diabetics and diabetics.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South Asian Protein Optimization: </a:t>
            </a:r>
            <a:r>
              <a:rPr sz="1200" b="0">
                <a:solidFill>
                  <a:srgbClr val="E2E8F0"/>
                </a:solidFill>
                <a:latin typeface="Poppins"/>
              </a:rPr>
              <a:t>Calculates amino acid profiles from accessible local foods to ensure lean muscle preservation.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0BCD4"/>
                </a:solidFill>
                <a:latin typeface="Poppins"/>
              </a:rPr>
              <a:t>Ramadan Circadian Inversion: </a:t>
            </a:r>
            <a:r>
              <a:rPr sz="1200" b="0">
                <a:solidFill>
                  <a:srgbClr val="E2E8F0"/>
                </a:solidFill>
                <a:latin typeface="Poppins"/>
              </a:rPr>
              <a:t>Recomputes daily caloric distribution seamlessly between Sehri and Iftar during fasting periods.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2018" y="2197893"/>
            <a:ext cx="10827657" cy="24622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0"/>
              </a:spcAft>
              <a:defRPr sz="8000" b="1">
                <a:solidFill>
                  <a:srgbClr val="00BCD4"/>
                </a:solidFill>
                <a:latin typeface="Poppins"/>
              </a:defRPr>
            </a:pPr>
            <a:r>
              <a:rPr dirty="0"/>
              <a:t>FEASIBILITY &amp; EXECUTION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20000"/>
            <a:ext cx="107289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B050"/>
                </a:solidFill>
                <a:latin typeface="Poppins"/>
              </a:defRPr>
            </a:pPr>
            <a:r>
              <a:rPr dirty="0"/>
              <a:t>What is Built &amp; Live: Core Clinical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0000"/>
            <a:ext cx="5184480" cy="228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1520" y="1740000"/>
            <a:ext cx="460000" cy="460000"/>
          </a:xfrm>
          <a:prstGeom prst="roundRect">
            <a:avLst/>
          </a:prstGeom>
          <a:solidFill>
            <a:srgbClr val="123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lide2_Picture_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0" y="1810000"/>
            <a:ext cx="320000" cy="3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1520" y="2340000"/>
            <a:ext cx="466448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Poppins"/>
              </a:defRPr>
            </a:pPr>
            <a:r>
              <a:t>[HEALTH BASELINE]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Comprehensive Health Onboarding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E2E8F0"/>
                </a:solidFill>
                <a:latin typeface="Poppins"/>
              </a:rPr>
              <a:t>Captures biometrics, chronic illnesses (Diabetes, BP, GERD), allergies, and personal targets with strict clinical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6000" y="1500000"/>
            <a:ext cx="5184480" cy="228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36000" y="1740000"/>
            <a:ext cx="460000" cy="460000"/>
          </a:xfrm>
          <a:prstGeom prst="roundRect">
            <a:avLst/>
          </a:prstGeom>
          <a:solidFill>
            <a:srgbClr val="1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lide13_Picture_10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000" y="1810000"/>
            <a:ext cx="320000" cy="3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6000" y="2340000"/>
            <a:ext cx="466448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BCD4"/>
                </a:solidFill>
                <a:latin typeface="Poppins"/>
              </a:defRPr>
            </a:pPr>
            <a:r>
              <a:t>[CONVERSATIONAL AI]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Interactive Bilingual AI Coach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E2E8F0"/>
                </a:solidFill>
                <a:latin typeface="Poppins"/>
              </a:rPr>
              <a:t>Hands-free voice and chat mode operating seamlessly in fluent Urdu and English with real-time streaming responses.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30000"/>
            <a:ext cx="5184480" cy="228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91520" y="4270000"/>
            <a:ext cx="460000" cy="460000"/>
          </a:xfrm>
          <a:prstGeom prst="roundRect">
            <a:avLst/>
          </a:prstGeom>
          <a:solidFill>
            <a:srgbClr val="3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lide6_Picture_10_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520" y="4340000"/>
            <a:ext cx="320000" cy="32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1520" y="4870000"/>
            <a:ext cx="466448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87171"/>
                </a:solidFill>
                <a:latin typeface="Poppins"/>
              </a:defRPr>
            </a:pPr>
            <a:r>
              <a:t>[CLINICAL DEFENSE]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Clinical Safety &amp; Alert System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E2E8F0"/>
                </a:solidFill>
                <a:latin typeface="Poppins"/>
              </a:rPr>
              <a:t>Dual-agent safety evaluation, sub-50ms emergency keyword scanning, red-flag banners, and GPS hospital locator.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6000" y="4030000"/>
            <a:ext cx="5184480" cy="228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36000" y="4270000"/>
            <a:ext cx="460000" cy="460000"/>
          </a:xfrm>
          <a:prstGeom prst="roundRect">
            <a:avLst/>
          </a:prstGeom>
          <a:solidFill>
            <a:srgbClr val="38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lide4_Picture_10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000" y="4340000"/>
            <a:ext cx="320000" cy="32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6000" y="4870000"/>
            <a:ext cx="466448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CC224"/>
                </a:solidFill>
                <a:latin typeface="Poppins"/>
              </a:defRPr>
            </a:pPr>
            <a:r>
              <a:t>[LOCAL INTELLIGENCE]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Pakistani Food Intelligence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E2E8F0"/>
                </a:solidFill>
                <a:latin typeface="Poppins"/>
              </a:rPr>
              <a:t>Accurate nutritional decomposition of South Asian composite dishes, portion tracking (rotis/katoris), and healthy recipe swaps.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20000"/>
            <a:ext cx="107289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B050"/>
                </a:solidFill>
                <a:latin typeface="Poppins"/>
              </a:defRPr>
            </a:pPr>
            <a:r>
              <a:rPr dirty="0"/>
              <a:t>What is Built &amp; Live: Advanced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0000"/>
            <a:ext cx="5184480" cy="228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1520" y="1740000"/>
            <a:ext cx="460000" cy="460000"/>
          </a:xfrm>
          <a:prstGeom prst="roundRect">
            <a:avLst/>
          </a:prstGeom>
          <a:solidFill>
            <a:srgbClr val="123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lide10_Picture_10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0" y="1810000"/>
            <a:ext cx="320000" cy="3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1520" y="2340000"/>
            <a:ext cx="466448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Poppins"/>
              </a:defRPr>
            </a:pPr>
            <a:r>
              <a:t>[CLINICAL WORKOUTS]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Condition-Tailored Workout Engine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E2E8F0"/>
                </a:solidFill>
                <a:latin typeface="Poppins"/>
              </a:rPr>
              <a:t>Condition-adapted exercise plans with post-meal walking intervals for diabetics and hypertensive safety precautions.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6000" y="1500000"/>
            <a:ext cx="5184480" cy="228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36000" y="1740000"/>
            <a:ext cx="460000" cy="460000"/>
          </a:xfrm>
          <a:prstGeom prst="roundRect">
            <a:avLst/>
          </a:prstGeom>
          <a:solidFill>
            <a:srgbClr val="38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con_grocery_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000" y="1810000"/>
            <a:ext cx="320000" cy="3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6000" y="2340000"/>
            <a:ext cx="466448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CC224"/>
                </a:solidFill>
                <a:latin typeface="Poppins"/>
              </a:defRPr>
            </a:pPr>
            <a:r>
              <a:t>[DYNAMIC SHOPPING]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Smart Dynamic Grocery Planner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E2E8F0"/>
                </a:solidFill>
                <a:latin typeface="Poppins"/>
              </a:rPr>
              <a:t>Generates weekly household grocery shopping lists dynamically based on 7-day nutritional gaps and medical requirements.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30000"/>
            <a:ext cx="5184480" cy="228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91520" y="4270000"/>
            <a:ext cx="460000" cy="460000"/>
          </a:xfrm>
          <a:prstGeom prst="roundRect">
            <a:avLst/>
          </a:prstGeom>
          <a:solidFill>
            <a:srgbClr val="1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lide10_Picture_6_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520" y="4340000"/>
            <a:ext cx="320000" cy="32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1520" y="4870000"/>
            <a:ext cx="466448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BCD4"/>
                </a:solidFill>
                <a:latin typeface="Poppins"/>
              </a:defRPr>
            </a:pPr>
            <a:r>
              <a:t>[CIRCADIAN FASTING]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Ramadan Circadian Fasting Mode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E2E8F0"/>
                </a:solidFill>
                <a:latin typeface="Poppins"/>
              </a:rPr>
              <a:t>Automatic circadian meal inversion (Sehri/Iftar), hydration schedule pacing, and live sun-tracking fasting timers.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6000" y="4030000"/>
            <a:ext cx="5184480" cy="228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36000" y="4270000"/>
            <a:ext cx="460000" cy="460000"/>
          </a:xfrm>
          <a:prstGeom prst="roundRect">
            <a:avLst/>
          </a:prstGeom>
          <a:solidFill>
            <a:srgbClr val="123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lide4_Picture_10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000" y="4340000"/>
            <a:ext cx="320000" cy="32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6000" y="4870000"/>
            <a:ext cx="466448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Poppins"/>
              </a:defRPr>
            </a:pPr>
            <a:r>
              <a:t>[PHYSICIAN REPORTS]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Doctor PDF Report Generator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E2E8F0"/>
                </a:solidFill>
                <a:latin typeface="Poppins"/>
              </a:rPr>
              <a:t>Zero-dependency pure Python binary PDF engine producing 7-day clinical summaries ready for consulting physicians.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20000"/>
            <a:ext cx="107289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B050"/>
                </a:solidFill>
                <a:latin typeface="Poppins"/>
              </a:defRPr>
            </a:pPr>
            <a:r>
              <a:rPr dirty="0"/>
              <a:t>Technical Architecture &amp; Multi-Model Resilience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0000"/>
            <a:ext cx="3376320" cy="246888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1520" y="1740000"/>
            <a:ext cx="460000" cy="460000"/>
          </a:xfrm>
          <a:prstGeom prst="roundRect">
            <a:avLst/>
          </a:prstGeom>
          <a:solidFill>
            <a:srgbClr val="1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lide4_Picture_18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0" y="1810000"/>
            <a:ext cx="320000" cy="3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1520" y="2340000"/>
            <a:ext cx="2856320" cy="138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BCD4"/>
                </a:solidFill>
                <a:latin typeface="Poppins"/>
              </a:defRPr>
            </a:pPr>
            <a:r>
              <a:rPr dirty="0"/>
              <a:t>[FLUTTER 3.x]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rPr dirty="0"/>
              <a:t>Flutter Cross-Platform</a:t>
            </a:r>
            <a:endParaRPr lang="en-US" dirty="0"/>
          </a:p>
          <a:p>
            <a:pPr>
              <a:spcAft>
                <a:spcPts val="500"/>
              </a:spcAft>
            </a:pPr>
            <a:r>
              <a:rPr lang="en-US" sz="1200" b="0" dirty="0">
                <a:solidFill>
                  <a:srgbClr val="E2E8F0"/>
                </a:solidFill>
                <a:latin typeface="Poppins"/>
              </a:rPr>
              <a:t>Android APK (backward compatible from Android 5.0 to 15), iOS, and Web build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840" y="1500000"/>
            <a:ext cx="3376320" cy="246888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67840" y="1740000"/>
            <a:ext cx="460000" cy="460000"/>
          </a:xfrm>
          <a:prstGeom prst="roundRect">
            <a:avLst/>
          </a:prstGeom>
          <a:solidFill>
            <a:srgbClr val="123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lide13_Picture_6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840" y="1810000"/>
            <a:ext cx="320000" cy="3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7840" y="2340000"/>
            <a:ext cx="2856320" cy="138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Poppins"/>
              </a:defRPr>
            </a:pPr>
            <a:r>
              <a:t>[FASTAPI + PYTHON 3.11]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FastAPI Backend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E2E8F0"/>
                </a:solidFill>
                <a:latin typeface="Poppins"/>
              </a:rPr>
              <a:t>Asynchronous Python backend with JWT LRU caching, Pydantic schemas, and structured clinical endpoints.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4160" y="1500000"/>
            <a:ext cx="3376320" cy="246888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344160" y="1740000"/>
            <a:ext cx="460000" cy="460000"/>
          </a:xfrm>
          <a:prstGeom prst="roundRect">
            <a:avLst/>
          </a:prstGeom>
          <a:solidFill>
            <a:srgbClr val="38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lide13_Picture_14_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4160" y="1810000"/>
            <a:ext cx="320000" cy="32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44160" y="2340000"/>
            <a:ext cx="2856320" cy="138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CC224"/>
                </a:solidFill>
                <a:latin typeface="Poppins"/>
              </a:defRPr>
            </a:pPr>
            <a:r>
              <a:t>[POSTGRESQL + RLS]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Supabase PostgreSQL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E2E8F0"/>
                </a:solidFill>
                <a:latin typeface="Poppins"/>
              </a:rPr>
              <a:t>Row Level Security (RLS) policies guaranteeing strict patient data isolation across family profiles and logs.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20000"/>
            <a:ext cx="5184480" cy="210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91520" y="4460000"/>
            <a:ext cx="460000" cy="460000"/>
          </a:xfrm>
          <a:prstGeom prst="roundRect">
            <a:avLst/>
          </a:prstGeom>
          <a:solidFill>
            <a:srgbClr val="1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lide13_Picture_10_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520" y="4530000"/>
            <a:ext cx="320000" cy="32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91520" y="5060000"/>
            <a:ext cx="4664480" cy="10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BCD4"/>
                </a:solidFill>
                <a:latin typeface="Poppins"/>
              </a:defRPr>
            </a:pPr>
            <a:r>
              <a:t>[100% UPTIME POOL]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Gemini Multi-Key Failover Pool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E2E8F0"/>
                </a:solidFill>
                <a:latin typeface="Poppins"/>
              </a:rPr>
              <a:t>Auto-rotates across Gemini 2.5-Flash and 3.7-Flash with stateful 60s cooldowns - guaranteeing 0% rate-limit crashes during live traffic.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6000" y="4220000"/>
            <a:ext cx="5184480" cy="2100000"/>
          </a:xfrm>
          <a:prstGeom prst="roundRect">
            <a:avLst/>
          </a:prstGeom>
          <a:solidFill>
            <a:srgbClr val="162138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36000" y="4460000"/>
            <a:ext cx="460000" cy="460000"/>
          </a:xfrm>
          <a:prstGeom prst="roundRect">
            <a:avLst/>
          </a:prstGeom>
          <a:solidFill>
            <a:srgbClr val="123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slide11_Picture_10_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6000" y="4530000"/>
            <a:ext cx="320000" cy="32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36000" y="5060000"/>
            <a:ext cx="4664480" cy="10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Poppins"/>
              </a:defRPr>
            </a:pPr>
            <a:r>
              <a:t>[VOICE ENGINE + STT]</a:t>
            </a:r>
          </a:p>
          <a:p>
            <a:pPr>
              <a:spcAft>
                <a:spcPts val="800"/>
              </a:spcAft>
              <a:defRPr sz="1900" b="1">
                <a:solidFill>
                  <a:srgbClr val="FFFFFF"/>
                </a:solidFill>
                <a:latin typeface="Poppins"/>
              </a:defRPr>
            </a:pPr>
            <a:r>
              <a:t>Edge-TTS Neural Voice Engine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E2E8F0"/>
                </a:solidFill>
                <a:latin typeface="Poppins"/>
              </a:rPr>
              <a:t>Microsoft Neural Pakistani Urdu voice synthesis with automated text sanitization and on-device speech recognition.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2018" y="2433856"/>
            <a:ext cx="10827657" cy="19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600"/>
              </a:spcAft>
              <a:defRPr sz="8800" b="1">
                <a:solidFill>
                  <a:srgbClr val="00BCD4"/>
                </a:solidFill>
                <a:latin typeface="Poppins"/>
              </a:defRPr>
            </a:pPr>
            <a:r>
              <a:rPr dirty="0"/>
              <a:t>THANK YOU</a:t>
            </a:r>
          </a:p>
          <a:p>
            <a:pPr algn="ctr">
              <a:spcAft>
                <a:spcPts val="2400"/>
              </a:spcAft>
              <a:defRPr sz="2800" b="1">
                <a:solidFill>
                  <a:srgbClr val="00B050"/>
                </a:solidFill>
                <a:latin typeface="Poppins"/>
              </a:defRPr>
            </a:pPr>
            <a:r>
              <a:rPr dirty="0" err="1"/>
              <a:t>NutriSense</a:t>
            </a:r>
            <a:r>
              <a:rPr dirty="0"/>
              <a:t>  -  Precision Health for Pakistan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2853</Words>
  <Application>Microsoft Office PowerPoint</Application>
  <PresentationFormat>Widescreen</PresentationFormat>
  <Paragraphs>252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Jamal Matloob 2024-CS-189</cp:lastModifiedBy>
  <cp:revision>9</cp:revision>
  <dcterms:created xsi:type="dcterms:W3CDTF">2013-01-27T09:14:16Z</dcterms:created>
  <dcterms:modified xsi:type="dcterms:W3CDTF">2026-09-03T16:11:45Z</dcterms:modified>
  <cp:category/>
</cp:coreProperties>
</file>